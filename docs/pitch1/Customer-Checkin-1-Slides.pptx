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team and thank Erin for her time. Today we are sharing our first, low-fidelity ideas, and we want honest feedback on what is good, what is bad and what we can improve.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topics quickly. Every section ends with a question for APSS. One teammate who is not presenting takes notes under three headings: good, bad, improve. Those notes become the summarized customer notes file for GitHub.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we heard from the brief: the main APSS site works well for people using programs and services, so we are not redesigning it. The research from the two U of R projects connected to reportneedles.ca needs its own home. The site has to show projects, publications and posters, include a blog, and connect cleanly to the main site and reportneedles.ca. It will be built in WordPress.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empathy map is a draft built from the project brief, so present it as assumptions to confirm with Erin. Ask who actually visits most. If your team's own empathy map differs, replace this content with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five themes come from our affinity diagram. Read the need and the reason for one or two rows, then ask whether anything is missing. "All three sites" means the research site, the main APSS site and reportneedles.ca.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 A keeps the main menu short: four sections plus a footer on every page. Both current and completed projects lead to a Project Details page. External links have an arrow and a dashed outline so visitors know they are leaving for the main APSS site or reportneedles.ca. That is how this structure supports digital wayfinding.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 B adds About and Get Involved, splits publications into more types, and turns updates into a blog, announcements, events and an optional newsletter. Its footer on every page holds contact information, social media links, privacy and terms, and acknowledgements. Ask whether A or B fits APSS better, or which parts of each to combine. If your team has more site map proposals (one per member is required), add a slide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member: show your paper sketch, say which page it is, and name one design choice behind it. Chop presents the Home page; the circled numbers mark affordances (1), gestalt (2) and constraints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Connect the sketches to concepts from class. Before presenting, update these examples so they match what is actually on your team's sketches. The same content can become the required 1-page 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Orange cards are what visitors want to do, blue cards are the steps, and yellow cards are what we build. MVP 1 is the first usable release; MVP 2 adds filters and related content. Ask whether MVP 1 is the right priority and what must be live by December 2. Remember: the graded version of this map is the PDF export from StoriesOnBoard.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whichever questions are still open; skip any that Erin already answered. The note-taker writes down her answers for the customer notes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timeline from the brief: high-fidelity designs on October 21, WordPress work in progress on November 4 and final delivery on December 2. Thank Erin for her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7F5F0"/>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7720"/>
            <a:ext cx="10566400" cy="467320"/>
          </a:xfrm>
          <a:prstGeom prst="rect">
            <a:avLst/>
          </a:prstGeom>
          <a:noFill/>
          <a:ln/>
        </p:spPr>
        <p:txBody>
          <a:bodyPr wrap="square" lIns="0" tIns="0" rIns="0" bIns="0" rtlCol="0" anchor="t"/>
          <a:lstStyle>
            <a:lvl1pPr algn="l" indent="0" marL="0">
              <a:lnSpc>
                <a:spcPct val="115000"/>
              </a:lnSpc>
              <a:buNone/>
              <a:defRPr lang="en-US" sz="3200" dirty="0">
                <a:solidFill>
                  <a:srgbClr val="1F2A33"/>
                </a:solidFill>
                <a:latin typeface="Source Serif 4" pitchFamily="34" charset="0"/>
                <a:ea typeface="Source Serif 4" pitchFamily="34" charset="-122"/>
                <a:cs typeface="Source Serif 4"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899841"/>
            <a:ext cx="10566400" cy="4145359"/>
          </a:xfrm>
          <a:prstGeom prst="rect">
            <a:avLst/>
          </a:prstGeom>
          <a:noFill/>
          <a:ln/>
        </p:spPr>
        <p:txBody>
          <a:bodyPr wrap="square" lIns="0" tIns="0" rIns="0" bIns="0" rtlCol="0" anchor="t"/>
          <a:lstStyle>
            <a:lvl1pPr algn="l" indent="0" marL="0">
              <a:lnSpc>
                <a:spcPct val="140000"/>
              </a:lnSpc>
              <a:buNone/>
              <a:defRPr lang="en-US" sz="1600" dirty="0">
                <a:solidFill>
                  <a:srgbClr val="1F2A33"/>
                </a:solidFill>
                <a:latin typeface="Public Sans" pitchFamily="34" charset="0"/>
                <a:ea typeface="Public Sans" pitchFamily="34" charset="-122"/>
                <a:cs typeface="Public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7F5F0"/>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7720"/>
            <a:ext cx="10566400" cy="467320"/>
          </a:xfrm>
          <a:prstGeom prst="rect">
            <a:avLst/>
          </a:prstGeom>
          <a:noFill/>
          <a:ln/>
        </p:spPr>
        <p:txBody>
          <a:bodyPr wrap="square" lIns="0" tIns="0" rIns="0" bIns="0" rtlCol="0" anchor="t"/>
          <a:lstStyle>
            <a:lvl1pPr algn="l" indent="0" marL="0">
              <a:lnSpc>
                <a:spcPct val="115000"/>
              </a:lnSpc>
              <a:buNone/>
              <a:defRPr lang="en-US" sz="3200" dirty="0">
                <a:solidFill>
                  <a:srgbClr val="1F2A33"/>
                </a:solidFill>
                <a:latin typeface="Source Serif 4" pitchFamily="34" charset="0"/>
                <a:ea typeface="Source Serif 4" pitchFamily="34" charset="-122"/>
                <a:cs typeface="Source Serif 4"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899841"/>
            <a:ext cx="10566400" cy="4145359"/>
          </a:xfrm>
          <a:prstGeom prst="rect">
            <a:avLst/>
          </a:prstGeom>
          <a:noFill/>
          <a:ln/>
        </p:spPr>
        <p:txBody>
          <a:bodyPr wrap="square" lIns="0" tIns="0" rIns="0" bIns="0" rtlCol="0" anchor="t"/>
          <a:lstStyle>
            <a:lvl1pPr algn="l" indent="0" marL="0">
              <a:lnSpc>
                <a:spcPct val="140000"/>
              </a:lnSpc>
              <a:buNone/>
              <a:defRPr lang="en-US" sz="1600" dirty="0">
                <a:solidFill>
                  <a:srgbClr val="1F2A33"/>
                </a:solidFill>
                <a:latin typeface="Public Sans" pitchFamily="34" charset="0"/>
                <a:ea typeface="Public Sans" pitchFamily="34" charset="-122"/>
                <a:cs typeface="Public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image" Target="../media/image-8-2.png"/><Relationship Id="rId3" Type="http://schemas.openxmlformats.org/officeDocument/2006/relationships/slideLayout" Target="../slideLayouts/slideLayout2.xml"/><Relationship Id="rId4" Type="http://schemas.openxmlformats.org/officeDocument/2006/relationships/notesSlide" Target="../notesSlides/notesSlide8.xml"/><Relationship Id="rId5" Type="http://schemas.openxmlformats.org/officeDocument/2006/relationships/image" Target="../media/image1.jpg"/><Relationship Id="rId6" Type="http://schemas.openxmlformats.org/officeDocument/2006/relationships/image" Target="../media/image2.jpg"/><Relationship Id="rId7" Type="http://schemas.openxmlformats.org/officeDocument/2006/relationships/image" Target="../media/image3.jpg"/><Relationship Id="rId8" Type="http://schemas.openxmlformats.org/officeDocument/2006/relationships/image" Target="../media/image4.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2F33"/>
        </a:solidFill>
      </p:bgPr>
    </p:bg>
    <p:spTree>
      <p:nvGrpSpPr>
        <p:cNvPr id="1" name=""/>
        <p:cNvGrpSpPr/>
        <p:nvPr/>
      </p:nvGrpSpPr>
      <p:grpSpPr>
        <a:xfrm>
          <a:off x="0" y="0"/>
          <a:ext cx="0" cy="0"/>
          <a:chOff x="0" y="0"/>
          <a:chExt cx="0" cy="0"/>
        </a:xfrm>
      </p:grpSpPr>
      <p:sp>
        <p:nvSpPr>
          <p:cNvPr id="2" name="Text 0"/>
          <p:cNvSpPr/>
          <p:nvPr/>
        </p:nvSpPr>
        <p:spPr>
          <a:xfrm>
            <a:off x="812800" y="812800"/>
            <a:ext cx="10883392" cy="274307"/>
          </a:xfrm>
          <a:prstGeom prst="rect">
            <a:avLst/>
          </a:prstGeom>
          <a:noFill/>
          <a:ln/>
        </p:spPr>
        <p:txBody>
          <a:bodyPr wrap="square" lIns="0" tIns="0" rIns="0" bIns="0" rtlCol="0" anchor="t">
            <a:normAutofit/>
          </a:bodyPr>
          <a:lstStyle/>
          <a:p>
            <a:pPr algn="l" indent="0" marL="0">
              <a:lnSpc>
                <a:spcPts val="1960"/>
              </a:lnSpc>
              <a:buNone/>
            </a:pPr>
            <a:r>
              <a:rPr lang="en-US" sz="1400" b="1" spc="100" kern="0" dirty="0">
                <a:solidFill>
                  <a:srgbClr val="F2C14E"/>
                </a:solidFill>
                <a:latin typeface="Public Sans" pitchFamily="34" charset="0"/>
                <a:ea typeface="Public Sans" pitchFamily="34" charset="-122"/>
                <a:cs typeface="Public Sans" pitchFamily="34" charset="-120"/>
              </a:rPr>
              <a:t>CUSTOMER CHECK-IN 1 · LOW-FIDELITY CONCEPTS</a:t>
            </a:r>
            <a:endParaRPr lang="en-US" sz="1400" dirty="0"/>
          </a:p>
        </p:txBody>
      </p:sp>
      <p:sp>
        <p:nvSpPr>
          <p:cNvPr id="3" name="Shape 1"/>
          <p:cNvSpPr/>
          <p:nvPr/>
        </p:nvSpPr>
        <p:spPr>
          <a:xfrm>
            <a:off x="812800" y="2496212"/>
            <a:ext cx="1016000" cy="50800"/>
          </a:xfrm>
          <a:prstGeom prst="rect">
            <a:avLst/>
          </a:prstGeom>
          <a:solidFill>
            <a:srgbClr val="F2C14E"/>
          </a:solidFill>
          <a:ln/>
        </p:spPr>
      </p:sp>
      <p:sp>
        <p:nvSpPr>
          <p:cNvPr id="4" name="Text 2"/>
          <p:cNvSpPr/>
          <p:nvPr>
            <p:ph type="title"/>
          </p:nvPr>
        </p:nvSpPr>
        <p:spPr>
          <a:xfrm>
            <a:off x="812800" y="2750212"/>
            <a:ext cx="10883392" cy="825500"/>
          </a:xfrm>
          <a:prstGeom prst="rect">
            <a:avLst/>
          </a:prstGeom>
          <a:noFill/>
          <a:ln/>
        </p:spPr>
        <p:txBody>
          <a:bodyPr wrap="square" lIns="0" tIns="0" rIns="0" bIns="0" rtlCol="0" anchor="t">
            <a:normAutofit/>
          </a:bodyPr>
          <a:lstStyle/>
          <a:p>
            <a:pPr algn="l" indent="0" marL="0">
              <a:lnSpc>
                <a:spcPts val="6300"/>
              </a:lnSpc>
              <a:buNone/>
            </a:pPr>
            <a:r>
              <a:rPr lang="en-US" sz="6000" b="1" i="0" dirty="0">
                <a:solidFill>
                  <a:srgbClr val="F7F5F0"/>
                </a:solidFill>
                <a:latin typeface="Source Serif 4" pitchFamily="18" charset="0"/>
                <a:ea typeface="Source Serif 4" pitchFamily="18" charset="-122"/>
                <a:cs typeface="Source Serif 4" pitchFamily="18" charset="-120"/>
              </a:rPr>
              <a:t>APSS Research Website</a:t>
            </a:r>
            <a:endParaRPr lang="en-US" sz="6000" dirty="0"/>
          </a:p>
        </p:txBody>
      </p:sp>
      <p:sp>
        <p:nvSpPr>
          <p:cNvPr id="5" name="Text 3"/>
          <p:cNvSpPr/>
          <p:nvPr/>
        </p:nvSpPr>
        <p:spPr>
          <a:xfrm>
            <a:off x="812800" y="3753512"/>
            <a:ext cx="10883392" cy="333970"/>
          </a:xfrm>
          <a:prstGeom prst="rect">
            <a:avLst/>
          </a:prstGeom>
          <a:noFill/>
          <a:ln/>
        </p:spPr>
        <p:txBody>
          <a:bodyPr wrap="square" lIns="0" tIns="0" rIns="0" bIns="0" rtlCol="0" anchor="t">
            <a:normAutofit/>
          </a:bodyPr>
          <a:lstStyle/>
          <a:p>
            <a:pPr algn="l" indent="0" marL="0">
              <a:lnSpc>
                <a:spcPts val="2430"/>
              </a:lnSpc>
              <a:buNone/>
            </a:pPr>
            <a:r>
              <a:rPr lang="en-US" sz="1800" dirty="0">
                <a:solidFill>
                  <a:srgbClr val="C9D1D8"/>
                </a:solidFill>
                <a:latin typeface="Public Sans" pitchFamily="34" charset="0"/>
                <a:ea typeface="Public Sans" pitchFamily="34" charset="-122"/>
                <a:cs typeface="Public Sans" pitchFamily="34" charset="-120"/>
              </a:rPr>
              <a:t>A dedicated home for research from AIDS Programs South Saskatchewan</a:t>
            </a:r>
            <a:endParaRPr lang="en-US" sz="1800" dirty="0"/>
          </a:p>
        </p:txBody>
      </p:sp>
      <p:sp>
        <p:nvSpPr>
          <p:cNvPr id="6" name="Text 4"/>
          <p:cNvSpPr/>
          <p:nvPr/>
        </p:nvSpPr>
        <p:spPr>
          <a:xfrm>
            <a:off x="812800" y="5496587"/>
            <a:ext cx="10883392"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9D1D8"/>
                </a:solidFill>
                <a:latin typeface="Public Sans" pitchFamily="34" charset="0"/>
                <a:ea typeface="Public Sans" pitchFamily="34" charset="-122"/>
                <a:cs typeface="Public Sans" pitchFamily="34" charset="-120"/>
              </a:rPr>
              <a:t>October 7, 2026 · Group A</a:t>
            </a:r>
            <a:endParaRPr lang="en-US" sz="1400" dirty="0"/>
          </a:p>
        </p:txBody>
      </p:sp>
      <p:sp>
        <p:nvSpPr>
          <p:cNvPr id="7" name="Text 5"/>
          <p:cNvSpPr/>
          <p:nvPr/>
        </p:nvSpPr>
        <p:spPr>
          <a:xfrm>
            <a:off x="812800" y="5796293"/>
            <a:ext cx="10883392"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7F5F0"/>
                </a:solidFill>
                <a:latin typeface="Public Sans" pitchFamily="34" charset="0"/>
                <a:ea typeface="Public Sans" pitchFamily="34" charset="-122"/>
                <a:cs typeface="Public Sans" pitchFamily="34" charset="-120"/>
              </a:rPr>
              <a:t>Samuel Willis · Muhammad Mouzzan · Chop Peter Kur · Oluwateniola Fayokun · Marie Basler</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6238280"/>
            <a:ext cx="390183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872"/>
                </a:solidFill>
                <a:latin typeface="Public Sans" pitchFamily="34" charset="0"/>
                <a:ea typeface="Public Sans" pitchFamily="34" charset="-122"/>
                <a:cs typeface="Public Sans" pitchFamily="34" charset="-120"/>
              </a:rPr>
              <a:t>APSS Research Website · Customer check-in 1</a:t>
            </a:r>
            <a:endParaRPr lang="en-US" sz="1200" dirty="0"/>
          </a:p>
        </p:txBody>
      </p:sp>
      <p:sp>
        <p:nvSpPr>
          <p:cNvPr id="3" name="Text 1"/>
          <p:cNvSpPr/>
          <p:nvPr/>
        </p:nvSpPr>
        <p:spPr>
          <a:xfrm>
            <a:off x="11237516" y="6238280"/>
            <a:ext cx="141684"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872"/>
                </a:solidFill>
                <a:latin typeface="Public Sans" pitchFamily="34" charset="0"/>
                <a:ea typeface="Public Sans" pitchFamily="34" charset="-122"/>
                <a:cs typeface="Public Sans" pitchFamily="34" charset="-120"/>
              </a:rPr>
              <a:t>2</a:t>
            </a:r>
            <a:endParaRPr lang="en-US" sz="1200" dirty="0"/>
          </a:p>
        </p:txBody>
      </p:sp>
      <p:sp>
        <p:nvSpPr>
          <p:cNvPr id="4" name="Text 2"/>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F6E6E"/>
                </a:solidFill>
                <a:latin typeface="Public Sans" pitchFamily="34" charset="0"/>
                <a:ea typeface="Public Sans" pitchFamily="34" charset="-122"/>
                <a:cs typeface="Public Sans" pitchFamily="34" charset="-120"/>
              </a:rPr>
              <a:t>CUSTOMER CHECK-IN 1</a:t>
            </a:r>
            <a:endParaRPr lang="en-US" sz="1200" dirty="0"/>
          </a:p>
        </p:txBody>
      </p:sp>
      <p:sp>
        <p:nvSpPr>
          <p:cNvPr id="5" name="Text 3"/>
          <p:cNvSpPr/>
          <p:nvPr>
            <p:ph type="title"/>
          </p:nvPr>
        </p:nvSpPr>
        <p:spPr>
          <a:xfrm>
            <a:off x="812800" y="11277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F2A33"/>
                </a:solidFill>
                <a:latin typeface="Source Serif 4" pitchFamily="18" charset="0"/>
                <a:ea typeface="Source Serif 4" pitchFamily="18" charset="-122"/>
                <a:cs typeface="Source Serif 4" pitchFamily="18" charset="-120"/>
              </a:rPr>
              <a:t>Today’s agenda</a:t>
            </a:r>
            <a:endParaRPr lang="en-US" sz="3200" dirty="0"/>
          </a:p>
        </p:txBody>
      </p:sp>
      <p:sp>
        <p:nvSpPr>
          <p:cNvPr id="6" name="Shape 4"/>
          <p:cNvSpPr/>
          <p:nvPr/>
        </p:nvSpPr>
        <p:spPr>
          <a:xfrm>
            <a:off x="812800" y="1901825"/>
            <a:ext cx="10566400" cy="0"/>
          </a:xfrm>
          <a:prstGeom prst="line">
            <a:avLst/>
          </a:prstGeom>
          <a:noFill/>
          <a:ln w="6350">
            <a:solidFill>
              <a:srgbClr val="E2DCD1"/>
            </a:solidFill>
            <a:prstDash val="solid"/>
          </a:ln>
        </p:spPr>
      </p:sp>
      <p:sp>
        <p:nvSpPr>
          <p:cNvPr id="7" name="Shape 5"/>
          <p:cNvSpPr/>
          <p:nvPr/>
        </p:nvSpPr>
        <p:spPr>
          <a:xfrm>
            <a:off x="812800" y="2427156"/>
            <a:ext cx="10566400" cy="0"/>
          </a:xfrm>
          <a:prstGeom prst="line">
            <a:avLst/>
          </a:prstGeom>
          <a:noFill/>
          <a:ln w="6350">
            <a:solidFill>
              <a:srgbClr val="E2DCD1"/>
            </a:solidFill>
            <a:prstDash val="solid"/>
          </a:ln>
        </p:spPr>
      </p:sp>
      <p:sp>
        <p:nvSpPr>
          <p:cNvPr id="8" name="Text 6"/>
          <p:cNvSpPr/>
          <p:nvPr/>
        </p:nvSpPr>
        <p:spPr>
          <a:xfrm>
            <a:off x="812800" y="2004484"/>
            <a:ext cx="457200" cy="345414"/>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0F6E6E"/>
                </a:solidFill>
                <a:latin typeface="Source Serif 4" pitchFamily="18" charset="0"/>
                <a:ea typeface="Source Serif 4" pitchFamily="18" charset="-122"/>
                <a:cs typeface="Source Serif 4" pitchFamily="18" charset="-120"/>
              </a:rPr>
              <a:t>01</a:t>
            </a:r>
            <a:endParaRPr lang="en-US" sz="1800" dirty="0"/>
          </a:p>
        </p:txBody>
      </p:sp>
      <p:sp>
        <p:nvSpPr>
          <p:cNvPr id="9" name="Text 7"/>
          <p:cNvSpPr/>
          <p:nvPr/>
        </p:nvSpPr>
        <p:spPr>
          <a:xfrm>
            <a:off x="1422400" y="2012950"/>
            <a:ext cx="1900158" cy="322527"/>
          </a:xfrm>
          <a:prstGeom prst="rect">
            <a:avLst/>
          </a:prstGeom>
          <a:noFill/>
          <a:ln/>
        </p:spPr>
        <p:txBody>
          <a:bodyPr wrap="square" lIns="0" tIns="0" rIns="0" bIns="0" rtlCol="0" anchor="t">
            <a:normAutofit/>
          </a:bodyPr>
          <a:lstStyle/>
          <a:p>
            <a:pPr algn="l" indent="0" marL="0">
              <a:lnSpc>
                <a:spcPts val="2340"/>
              </a:lnSpc>
              <a:buNone/>
            </a:pPr>
            <a:r>
              <a:rPr lang="en-US" sz="1800" dirty="0">
                <a:solidFill>
                  <a:srgbClr val="1F2A33"/>
                </a:solidFill>
                <a:latin typeface="Public Sans" pitchFamily="34" charset="0"/>
                <a:ea typeface="Public Sans" pitchFamily="34" charset="-122"/>
                <a:cs typeface="Public Sans" pitchFamily="34" charset="-120"/>
              </a:rPr>
              <a:t>What we heard</a:t>
            </a:r>
            <a:endParaRPr lang="en-US" sz="1800" dirty="0"/>
          </a:p>
        </p:txBody>
      </p:sp>
      <p:sp>
        <p:nvSpPr>
          <p:cNvPr id="10" name="Shape 8"/>
          <p:cNvSpPr/>
          <p:nvPr/>
        </p:nvSpPr>
        <p:spPr>
          <a:xfrm>
            <a:off x="812800" y="2954603"/>
            <a:ext cx="10566400" cy="0"/>
          </a:xfrm>
          <a:prstGeom prst="line">
            <a:avLst/>
          </a:prstGeom>
          <a:noFill/>
          <a:ln w="6350">
            <a:solidFill>
              <a:srgbClr val="E2DCD1"/>
            </a:solidFill>
            <a:prstDash val="solid"/>
          </a:ln>
        </p:spPr>
      </p:sp>
      <p:sp>
        <p:nvSpPr>
          <p:cNvPr id="11" name="Text 9"/>
          <p:cNvSpPr/>
          <p:nvPr/>
        </p:nvSpPr>
        <p:spPr>
          <a:xfrm>
            <a:off x="812800" y="2531931"/>
            <a:ext cx="457200" cy="345414"/>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0F6E6E"/>
                </a:solidFill>
                <a:latin typeface="Source Serif 4" pitchFamily="18" charset="0"/>
                <a:ea typeface="Source Serif 4" pitchFamily="18" charset="-122"/>
                <a:cs typeface="Source Serif 4" pitchFamily="18" charset="-120"/>
              </a:rPr>
              <a:t>02</a:t>
            </a:r>
            <a:endParaRPr lang="en-US" sz="1800" dirty="0"/>
          </a:p>
        </p:txBody>
      </p:sp>
      <p:sp>
        <p:nvSpPr>
          <p:cNvPr id="12" name="Text 10"/>
          <p:cNvSpPr/>
          <p:nvPr/>
        </p:nvSpPr>
        <p:spPr>
          <a:xfrm>
            <a:off x="1422400" y="2540397"/>
            <a:ext cx="4464606" cy="322527"/>
          </a:xfrm>
          <a:prstGeom prst="rect">
            <a:avLst/>
          </a:prstGeom>
          <a:noFill/>
          <a:ln/>
        </p:spPr>
        <p:txBody>
          <a:bodyPr wrap="square" lIns="0" tIns="0" rIns="0" bIns="0" rtlCol="0" anchor="t">
            <a:normAutofit/>
          </a:bodyPr>
          <a:lstStyle/>
          <a:p>
            <a:pPr algn="l" indent="0" marL="0">
              <a:lnSpc>
                <a:spcPts val="2340"/>
              </a:lnSpc>
              <a:buNone/>
            </a:pPr>
            <a:r>
              <a:rPr lang="en-US" sz="1800" dirty="0">
                <a:solidFill>
                  <a:srgbClr val="1F2A33"/>
                </a:solidFill>
                <a:latin typeface="Public Sans" pitchFamily="34" charset="0"/>
                <a:ea typeface="Public Sans" pitchFamily="34" charset="-122"/>
                <a:cs typeface="Public Sans" pitchFamily="34" charset="-120"/>
              </a:rPr>
              <a:t>Empathy map and problem insights</a:t>
            </a:r>
            <a:endParaRPr lang="en-US" sz="1800" dirty="0"/>
          </a:p>
        </p:txBody>
      </p:sp>
      <p:sp>
        <p:nvSpPr>
          <p:cNvPr id="13" name="Shape 11"/>
          <p:cNvSpPr/>
          <p:nvPr/>
        </p:nvSpPr>
        <p:spPr>
          <a:xfrm>
            <a:off x="812800" y="3482049"/>
            <a:ext cx="10566400" cy="0"/>
          </a:xfrm>
          <a:prstGeom prst="line">
            <a:avLst/>
          </a:prstGeom>
          <a:noFill/>
          <a:ln w="6350">
            <a:solidFill>
              <a:srgbClr val="E2DCD1"/>
            </a:solidFill>
            <a:prstDash val="solid"/>
          </a:ln>
        </p:spPr>
      </p:sp>
      <p:sp>
        <p:nvSpPr>
          <p:cNvPr id="14" name="Text 12"/>
          <p:cNvSpPr/>
          <p:nvPr/>
        </p:nvSpPr>
        <p:spPr>
          <a:xfrm>
            <a:off x="812800" y="3059378"/>
            <a:ext cx="457200" cy="345414"/>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0F6E6E"/>
                </a:solidFill>
                <a:latin typeface="Source Serif 4" pitchFamily="18" charset="0"/>
                <a:ea typeface="Source Serif 4" pitchFamily="18" charset="-122"/>
                <a:cs typeface="Source Serif 4" pitchFamily="18" charset="-120"/>
              </a:rPr>
              <a:t>03</a:t>
            </a:r>
            <a:endParaRPr lang="en-US" sz="1800" dirty="0"/>
          </a:p>
        </p:txBody>
      </p:sp>
      <p:sp>
        <p:nvSpPr>
          <p:cNvPr id="15" name="Text 13"/>
          <p:cNvSpPr/>
          <p:nvPr/>
        </p:nvSpPr>
        <p:spPr>
          <a:xfrm>
            <a:off x="1422400" y="3067844"/>
            <a:ext cx="1866027" cy="322527"/>
          </a:xfrm>
          <a:prstGeom prst="rect">
            <a:avLst/>
          </a:prstGeom>
          <a:noFill/>
          <a:ln/>
        </p:spPr>
        <p:txBody>
          <a:bodyPr wrap="square" lIns="0" tIns="0" rIns="0" bIns="0" rtlCol="0" anchor="t">
            <a:normAutofit/>
          </a:bodyPr>
          <a:lstStyle/>
          <a:p>
            <a:pPr algn="l" indent="0" marL="0">
              <a:lnSpc>
                <a:spcPts val="2340"/>
              </a:lnSpc>
              <a:buNone/>
            </a:pPr>
            <a:r>
              <a:rPr lang="en-US" sz="1800" dirty="0">
                <a:solidFill>
                  <a:srgbClr val="1F2A33"/>
                </a:solidFill>
                <a:latin typeface="Public Sans" pitchFamily="34" charset="0"/>
                <a:ea typeface="Public Sans" pitchFamily="34" charset="-122"/>
                <a:cs typeface="Public Sans" pitchFamily="34" charset="-120"/>
              </a:rPr>
              <a:t>Site map ideas</a:t>
            </a:r>
            <a:endParaRPr lang="en-US" sz="1800" dirty="0"/>
          </a:p>
        </p:txBody>
      </p:sp>
      <p:sp>
        <p:nvSpPr>
          <p:cNvPr id="16" name="Shape 14"/>
          <p:cNvSpPr/>
          <p:nvPr/>
        </p:nvSpPr>
        <p:spPr>
          <a:xfrm>
            <a:off x="812800" y="4009496"/>
            <a:ext cx="10566400" cy="0"/>
          </a:xfrm>
          <a:prstGeom prst="line">
            <a:avLst/>
          </a:prstGeom>
          <a:noFill/>
          <a:ln w="6350">
            <a:solidFill>
              <a:srgbClr val="E2DCD1"/>
            </a:solidFill>
            <a:prstDash val="solid"/>
          </a:ln>
        </p:spPr>
      </p:sp>
      <p:sp>
        <p:nvSpPr>
          <p:cNvPr id="17" name="Text 15"/>
          <p:cNvSpPr/>
          <p:nvPr/>
        </p:nvSpPr>
        <p:spPr>
          <a:xfrm>
            <a:off x="812800" y="3586824"/>
            <a:ext cx="457200" cy="345414"/>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0F6E6E"/>
                </a:solidFill>
                <a:latin typeface="Source Serif 4" pitchFamily="18" charset="0"/>
                <a:ea typeface="Source Serif 4" pitchFamily="18" charset="-122"/>
                <a:cs typeface="Source Serif 4" pitchFamily="18" charset="-120"/>
              </a:rPr>
              <a:t>04</a:t>
            </a:r>
            <a:endParaRPr lang="en-US" sz="1800" dirty="0"/>
          </a:p>
        </p:txBody>
      </p:sp>
      <p:sp>
        <p:nvSpPr>
          <p:cNvPr id="18" name="Text 16"/>
          <p:cNvSpPr/>
          <p:nvPr/>
        </p:nvSpPr>
        <p:spPr>
          <a:xfrm>
            <a:off x="1422400" y="3595291"/>
            <a:ext cx="2961878" cy="322527"/>
          </a:xfrm>
          <a:prstGeom prst="rect">
            <a:avLst/>
          </a:prstGeom>
          <a:noFill/>
          <a:ln/>
        </p:spPr>
        <p:txBody>
          <a:bodyPr wrap="square" lIns="0" tIns="0" rIns="0" bIns="0" rtlCol="0" anchor="t">
            <a:normAutofit/>
          </a:bodyPr>
          <a:lstStyle/>
          <a:p>
            <a:pPr algn="l" indent="0" marL="0">
              <a:lnSpc>
                <a:spcPts val="2340"/>
              </a:lnSpc>
              <a:buNone/>
            </a:pPr>
            <a:r>
              <a:rPr lang="en-US" sz="1800" dirty="0">
                <a:solidFill>
                  <a:srgbClr val="1F2A33"/>
                </a:solidFill>
                <a:latin typeface="Public Sans" pitchFamily="34" charset="0"/>
                <a:ea typeface="Public Sans" pitchFamily="34" charset="-122"/>
                <a:cs typeface="Public Sans" pitchFamily="34" charset="-120"/>
              </a:rPr>
              <a:t>Low-fidelity prototypes</a:t>
            </a:r>
            <a:endParaRPr lang="en-US" sz="1800" dirty="0"/>
          </a:p>
        </p:txBody>
      </p:sp>
      <p:sp>
        <p:nvSpPr>
          <p:cNvPr id="19" name="Shape 17"/>
          <p:cNvSpPr/>
          <p:nvPr/>
        </p:nvSpPr>
        <p:spPr>
          <a:xfrm>
            <a:off x="812800" y="4536943"/>
            <a:ext cx="10566400" cy="0"/>
          </a:xfrm>
          <a:prstGeom prst="line">
            <a:avLst/>
          </a:prstGeom>
          <a:noFill/>
          <a:ln w="6350">
            <a:solidFill>
              <a:srgbClr val="E2DCD1"/>
            </a:solidFill>
            <a:prstDash val="solid"/>
          </a:ln>
        </p:spPr>
      </p:sp>
      <p:sp>
        <p:nvSpPr>
          <p:cNvPr id="20" name="Text 18"/>
          <p:cNvSpPr/>
          <p:nvPr/>
        </p:nvSpPr>
        <p:spPr>
          <a:xfrm>
            <a:off x="812800" y="4114271"/>
            <a:ext cx="457200" cy="345414"/>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0F6E6E"/>
                </a:solidFill>
                <a:latin typeface="Source Serif 4" pitchFamily="18" charset="0"/>
                <a:ea typeface="Source Serif 4" pitchFamily="18" charset="-122"/>
                <a:cs typeface="Source Serif 4" pitchFamily="18" charset="-120"/>
              </a:rPr>
              <a:t>05</a:t>
            </a:r>
            <a:endParaRPr lang="en-US" sz="1800" dirty="0"/>
          </a:p>
        </p:txBody>
      </p:sp>
      <p:sp>
        <p:nvSpPr>
          <p:cNvPr id="21" name="Text 19"/>
          <p:cNvSpPr/>
          <p:nvPr/>
        </p:nvSpPr>
        <p:spPr>
          <a:xfrm>
            <a:off x="1422400" y="4122738"/>
            <a:ext cx="1929448" cy="322527"/>
          </a:xfrm>
          <a:prstGeom prst="rect">
            <a:avLst/>
          </a:prstGeom>
          <a:noFill/>
          <a:ln/>
        </p:spPr>
        <p:txBody>
          <a:bodyPr wrap="square" lIns="0" tIns="0" rIns="0" bIns="0" rtlCol="0" anchor="t">
            <a:normAutofit/>
          </a:bodyPr>
          <a:lstStyle/>
          <a:p>
            <a:pPr algn="l" indent="0" marL="0">
              <a:lnSpc>
                <a:spcPts val="2340"/>
              </a:lnSpc>
              <a:buNone/>
            </a:pPr>
            <a:r>
              <a:rPr lang="en-US" sz="1800" dirty="0">
                <a:solidFill>
                  <a:srgbClr val="1F2A33"/>
                </a:solidFill>
                <a:latin typeface="Public Sans" pitchFamily="34" charset="0"/>
                <a:ea typeface="Public Sans" pitchFamily="34" charset="-122"/>
                <a:cs typeface="Public Sans" pitchFamily="34" charset="-120"/>
              </a:rPr>
              <a:t>User story map</a:t>
            </a:r>
            <a:endParaRPr lang="en-US" sz="1800" dirty="0"/>
          </a:p>
        </p:txBody>
      </p:sp>
      <p:sp>
        <p:nvSpPr>
          <p:cNvPr id="22" name="Shape 20"/>
          <p:cNvSpPr/>
          <p:nvPr/>
        </p:nvSpPr>
        <p:spPr>
          <a:xfrm>
            <a:off x="812800" y="5064390"/>
            <a:ext cx="10566400" cy="0"/>
          </a:xfrm>
          <a:prstGeom prst="line">
            <a:avLst/>
          </a:prstGeom>
          <a:noFill/>
          <a:ln w="6350">
            <a:solidFill>
              <a:srgbClr val="E2DCD1"/>
            </a:solidFill>
            <a:prstDash val="solid"/>
          </a:ln>
        </p:spPr>
      </p:sp>
      <p:sp>
        <p:nvSpPr>
          <p:cNvPr id="23" name="Text 21"/>
          <p:cNvSpPr/>
          <p:nvPr/>
        </p:nvSpPr>
        <p:spPr>
          <a:xfrm>
            <a:off x="812800" y="4641718"/>
            <a:ext cx="457200" cy="345414"/>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0F6E6E"/>
                </a:solidFill>
                <a:latin typeface="Source Serif 4" pitchFamily="18" charset="0"/>
                <a:ea typeface="Source Serif 4" pitchFamily="18" charset="-122"/>
                <a:cs typeface="Source Serif 4" pitchFamily="18" charset="-120"/>
              </a:rPr>
              <a:t>06</a:t>
            </a:r>
            <a:endParaRPr lang="en-US" sz="1800" dirty="0"/>
          </a:p>
        </p:txBody>
      </p:sp>
      <p:sp>
        <p:nvSpPr>
          <p:cNvPr id="24" name="Text 22"/>
          <p:cNvSpPr/>
          <p:nvPr/>
        </p:nvSpPr>
        <p:spPr>
          <a:xfrm>
            <a:off x="1422400" y="4650184"/>
            <a:ext cx="3207306" cy="322527"/>
          </a:xfrm>
          <a:prstGeom prst="rect">
            <a:avLst/>
          </a:prstGeom>
          <a:noFill/>
          <a:ln/>
        </p:spPr>
        <p:txBody>
          <a:bodyPr wrap="square" lIns="0" tIns="0" rIns="0" bIns="0" rtlCol="0" anchor="t">
            <a:normAutofit/>
          </a:bodyPr>
          <a:lstStyle/>
          <a:p>
            <a:pPr algn="l" indent="0" marL="0">
              <a:lnSpc>
                <a:spcPts val="2340"/>
              </a:lnSpc>
              <a:buNone/>
            </a:pPr>
            <a:r>
              <a:rPr lang="en-US" sz="1800" dirty="0">
                <a:solidFill>
                  <a:srgbClr val="1F2A33"/>
                </a:solidFill>
                <a:latin typeface="Public Sans" pitchFamily="34" charset="0"/>
                <a:ea typeface="Public Sans" pitchFamily="34" charset="-122"/>
                <a:cs typeface="Public Sans" pitchFamily="34" charset="-120"/>
              </a:rPr>
              <a:t>Questions and next steps</a:t>
            </a:r>
            <a:endParaRPr lang="en-US" sz="1800" dirty="0"/>
          </a:p>
        </p:txBody>
      </p:sp>
      <p:sp>
        <p:nvSpPr>
          <p:cNvPr id="25" name="Text 23"/>
          <p:cNvSpPr/>
          <p:nvPr/>
        </p:nvSpPr>
        <p:spPr>
          <a:xfrm>
            <a:off x="812800" y="5372100"/>
            <a:ext cx="10883392"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0"/>
                </a:solidFill>
                <a:latin typeface="Public Sans" pitchFamily="34" charset="0"/>
                <a:ea typeface="Public Sans" pitchFamily="34" charset="-122"/>
                <a:cs typeface="Public Sans" pitchFamily="34" charset="-120"/>
              </a:rPr>
              <a:t>Each topic ends with your feedback: what’s good, what’s bad and what we can improve.</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F6E6E"/>
                </a:solidFill>
                <a:latin typeface="Public Sans" pitchFamily="34" charset="0"/>
                <a:ea typeface="Public Sans" pitchFamily="34" charset="-122"/>
                <a:cs typeface="Public Sans" pitchFamily="34" charset="-120"/>
              </a:rPr>
              <a:t>WHAT WE HEARD</a:t>
            </a:r>
            <a:endParaRPr lang="en-US" sz="1200" dirty="0"/>
          </a:p>
        </p:txBody>
      </p:sp>
      <p:sp>
        <p:nvSpPr>
          <p:cNvPr id="3" name="Text 1"/>
          <p:cNvSpPr/>
          <p:nvPr>
            <p:ph type="title"/>
          </p:nvPr>
        </p:nvSpPr>
        <p:spPr>
          <a:xfrm>
            <a:off x="812800" y="11277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F2A33"/>
                </a:solidFill>
                <a:latin typeface="Source Serif 4" pitchFamily="18" charset="0"/>
                <a:ea typeface="Source Serif 4" pitchFamily="18" charset="-122"/>
                <a:cs typeface="Source Serif 4" pitchFamily="18" charset="-120"/>
              </a:rPr>
              <a:t>A dedicated home for APSS research</a:t>
            </a:r>
            <a:endParaRPr lang="en-US" sz="3200" dirty="0"/>
          </a:p>
        </p:txBody>
      </p:sp>
      <p:sp>
        <p:nvSpPr>
          <p:cNvPr id="4" name="Text 2"/>
          <p:cNvSpPr/>
          <p:nvPr/>
        </p:nvSpPr>
        <p:spPr>
          <a:xfrm>
            <a:off x="812800" y="1798241"/>
            <a:ext cx="10883392" cy="523214"/>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0"/>
                </a:solidFill>
                <a:latin typeface="Public Sans" pitchFamily="34" charset="0"/>
                <a:ea typeface="Public Sans" pitchFamily="34" charset="-122"/>
                <a:cs typeface="Public Sans" pitchFamily="34" charset="-120"/>
              </a:rPr>
              <a:t>The main APSS website already serves people who use its programs and services. Research from two U of R projects connected to reportneedles.ca needs its own complementary website.</a:t>
            </a:r>
            <a:endParaRPr lang="en-US" sz="1400" dirty="0"/>
          </a:p>
        </p:txBody>
      </p:sp>
      <p:sp>
        <p:nvSpPr>
          <p:cNvPr id="5" name="Shape 3"/>
          <p:cNvSpPr/>
          <p:nvPr/>
        </p:nvSpPr>
        <p:spPr>
          <a:xfrm>
            <a:off x="815975" y="2502430"/>
            <a:ext cx="3380317" cy="1632744"/>
          </a:xfrm>
          <a:prstGeom prst="roundRect">
            <a:avLst>
              <a:gd name="adj" fmla="val 6028"/>
            </a:avLst>
          </a:prstGeom>
          <a:solidFill>
            <a:srgbClr val="FFFDF9"/>
          </a:solidFill>
          <a:ln w="6350">
            <a:solidFill>
              <a:srgbClr val="E2DCD1"/>
            </a:solidFill>
            <a:prstDash val="solid"/>
          </a:ln>
        </p:spPr>
      </p:sp>
      <p:sp>
        <p:nvSpPr>
          <p:cNvPr id="6" name="Text 4"/>
          <p:cNvSpPr/>
          <p:nvPr/>
        </p:nvSpPr>
        <p:spPr>
          <a:xfrm>
            <a:off x="1071033" y="2757488"/>
            <a:ext cx="2956306"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F2A33"/>
                </a:solidFill>
                <a:latin typeface="Public Sans" pitchFamily="34" charset="0"/>
                <a:ea typeface="Public Sans" pitchFamily="34" charset="-122"/>
                <a:cs typeface="Public Sans" pitchFamily="34" charset="-120"/>
              </a:rPr>
              <a:t>Show the research</a:t>
            </a:r>
            <a:endParaRPr lang="en-US" sz="1800" dirty="0"/>
          </a:p>
        </p:txBody>
      </p:sp>
      <p:sp>
        <p:nvSpPr>
          <p:cNvPr id="7" name="Text 5"/>
          <p:cNvSpPr/>
          <p:nvPr/>
        </p:nvSpPr>
        <p:spPr>
          <a:xfrm>
            <a:off x="1071033" y="3133395"/>
            <a:ext cx="2956306" cy="7721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0"/>
                </a:solidFill>
                <a:latin typeface="Public Sans" pitchFamily="34" charset="0"/>
                <a:ea typeface="Public Sans" pitchFamily="34" charset="-122"/>
                <a:cs typeface="Public Sans" pitchFamily="34" charset="-120"/>
              </a:rPr>
              <a:t>Current and completed projects, journal articles and research posters</a:t>
            </a:r>
            <a:endParaRPr lang="en-US" sz="1400" dirty="0"/>
          </a:p>
        </p:txBody>
      </p:sp>
      <p:sp>
        <p:nvSpPr>
          <p:cNvPr id="8" name="Shape 6"/>
          <p:cNvSpPr/>
          <p:nvPr/>
        </p:nvSpPr>
        <p:spPr>
          <a:xfrm>
            <a:off x="4405842" y="2502430"/>
            <a:ext cx="3380317" cy="1632744"/>
          </a:xfrm>
          <a:prstGeom prst="roundRect">
            <a:avLst>
              <a:gd name="adj" fmla="val 6028"/>
            </a:avLst>
          </a:prstGeom>
          <a:solidFill>
            <a:srgbClr val="FFFDF9"/>
          </a:solidFill>
          <a:ln w="6350">
            <a:solidFill>
              <a:srgbClr val="E2DCD1"/>
            </a:solidFill>
            <a:prstDash val="solid"/>
          </a:ln>
        </p:spPr>
      </p:sp>
      <p:sp>
        <p:nvSpPr>
          <p:cNvPr id="9" name="Text 7"/>
          <p:cNvSpPr/>
          <p:nvPr/>
        </p:nvSpPr>
        <p:spPr>
          <a:xfrm>
            <a:off x="4660900" y="2757488"/>
            <a:ext cx="2956306"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F2A33"/>
                </a:solidFill>
                <a:latin typeface="Public Sans" pitchFamily="34" charset="0"/>
                <a:ea typeface="Public Sans" pitchFamily="34" charset="-122"/>
                <a:cs typeface="Public Sans" pitchFamily="34" charset="-120"/>
              </a:rPr>
              <a:t>Share updates</a:t>
            </a:r>
            <a:endParaRPr lang="en-US" sz="1800" dirty="0"/>
          </a:p>
        </p:txBody>
      </p:sp>
      <p:sp>
        <p:nvSpPr>
          <p:cNvPr id="10" name="Text 8"/>
          <p:cNvSpPr/>
          <p:nvPr/>
        </p:nvSpPr>
        <p:spPr>
          <a:xfrm>
            <a:off x="4660900" y="3133395"/>
            <a:ext cx="2956306" cy="523214"/>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0"/>
                </a:solidFill>
                <a:latin typeface="Public Sans" pitchFamily="34" charset="0"/>
                <a:ea typeface="Public Sans" pitchFamily="34" charset="-122"/>
                <a:cs typeface="Public Sans" pitchFamily="34" charset="-120"/>
              </a:rPr>
              <a:t>A research blog that visitors can follow over time</a:t>
            </a:r>
            <a:endParaRPr lang="en-US" sz="1400" dirty="0"/>
          </a:p>
        </p:txBody>
      </p:sp>
      <p:sp>
        <p:nvSpPr>
          <p:cNvPr id="11" name="Shape 9"/>
          <p:cNvSpPr/>
          <p:nvPr/>
        </p:nvSpPr>
        <p:spPr>
          <a:xfrm>
            <a:off x="7995709" y="2502430"/>
            <a:ext cx="3380317" cy="1632744"/>
          </a:xfrm>
          <a:prstGeom prst="roundRect">
            <a:avLst>
              <a:gd name="adj" fmla="val 6028"/>
            </a:avLst>
          </a:prstGeom>
          <a:solidFill>
            <a:srgbClr val="FFFDF9"/>
          </a:solidFill>
          <a:ln w="6350">
            <a:solidFill>
              <a:srgbClr val="E2DCD1"/>
            </a:solidFill>
            <a:prstDash val="solid"/>
          </a:ln>
        </p:spPr>
      </p:sp>
      <p:sp>
        <p:nvSpPr>
          <p:cNvPr id="12" name="Text 10"/>
          <p:cNvSpPr/>
          <p:nvPr/>
        </p:nvSpPr>
        <p:spPr>
          <a:xfrm>
            <a:off x="8250767" y="2757488"/>
            <a:ext cx="2956306"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F2A33"/>
                </a:solidFill>
                <a:latin typeface="Public Sans" pitchFamily="34" charset="0"/>
                <a:ea typeface="Public Sans" pitchFamily="34" charset="-122"/>
                <a:cs typeface="Public Sans" pitchFamily="34" charset="-120"/>
              </a:rPr>
              <a:t>Connect the sites</a:t>
            </a:r>
            <a:endParaRPr lang="en-US" sz="1800" dirty="0"/>
          </a:p>
        </p:txBody>
      </p:sp>
      <p:sp>
        <p:nvSpPr>
          <p:cNvPr id="13" name="Text 11"/>
          <p:cNvSpPr/>
          <p:nvPr/>
        </p:nvSpPr>
        <p:spPr>
          <a:xfrm>
            <a:off x="8250767" y="3133395"/>
            <a:ext cx="2956306" cy="7721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0"/>
                </a:solidFill>
                <a:latin typeface="Public Sans" pitchFamily="34" charset="0"/>
                <a:ea typeface="Public Sans" pitchFamily="34" charset="-122"/>
                <a:cs typeface="Public Sans" pitchFamily="34" charset="-120"/>
              </a:rPr>
              <a:t>Easy movement between the research site, the main APSS site and reportneedles.ca</a:t>
            </a:r>
            <a:endParaRPr lang="en-US" sz="1400" dirty="0"/>
          </a:p>
        </p:txBody>
      </p:sp>
      <p:sp>
        <p:nvSpPr>
          <p:cNvPr id="14" name="Text 12"/>
          <p:cNvSpPr/>
          <p:nvPr/>
        </p:nvSpPr>
        <p:spPr>
          <a:xfrm>
            <a:off x="812800" y="4341549"/>
            <a:ext cx="10883392" cy="27430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F2A33"/>
                </a:solidFill>
                <a:latin typeface="Public Sans" pitchFamily="34" charset="0"/>
                <a:ea typeface="Public Sans" pitchFamily="34" charset="-122"/>
                <a:cs typeface="Public Sans" pitchFamily="34" charset="-120"/>
              </a:rPr>
              <a:t>Platform:</a:t>
            </a:r>
            <a:r>
              <a:rPr lang="en-US" sz="1400" dirty="0">
                <a:solidFill>
                  <a:srgbClr val="1F2A33"/>
                </a:solidFill>
                <a:latin typeface="Public Sans" pitchFamily="34" charset="0"/>
                <a:ea typeface="Public Sans" pitchFamily="34" charset="-122"/>
                <a:cs typeface="Public Sans" pitchFamily="34" charset="-120"/>
              </a:rPr>
              <a:t> WordPress · </a:t>
            </a:r>
            <a:r>
              <a:rPr lang="en-US" sz="1400" b="1" dirty="0">
                <a:solidFill>
                  <a:srgbClr val="1F2A33"/>
                </a:solidFill>
                <a:latin typeface="Public Sans" pitchFamily="34" charset="0"/>
                <a:ea typeface="Public Sans" pitchFamily="34" charset="-122"/>
                <a:cs typeface="Public Sans" pitchFamily="34" charset="-120"/>
              </a:rPr>
              <a:t>Final delivery:</a:t>
            </a:r>
            <a:r>
              <a:rPr lang="en-US" sz="1400" dirty="0">
                <a:solidFill>
                  <a:srgbClr val="1F2A33"/>
                </a:solidFill>
                <a:latin typeface="Public Sans" pitchFamily="34" charset="0"/>
                <a:ea typeface="Public Sans" pitchFamily="34" charset="-122"/>
                <a:cs typeface="Public Sans" pitchFamily="34" charset="-120"/>
              </a:rPr>
              <a:t> December 2</a:t>
            </a:r>
            <a:endParaRPr lang="en-US" sz="1400" dirty="0"/>
          </a:p>
        </p:txBody>
      </p:sp>
      <p:sp>
        <p:nvSpPr>
          <p:cNvPr id="15" name="Text 13"/>
          <p:cNvSpPr/>
          <p:nvPr/>
        </p:nvSpPr>
        <p:spPr>
          <a:xfrm>
            <a:off x="812800" y="6238280"/>
            <a:ext cx="390183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872"/>
                </a:solidFill>
                <a:latin typeface="Public Sans" pitchFamily="34" charset="0"/>
                <a:ea typeface="Public Sans" pitchFamily="34" charset="-122"/>
                <a:cs typeface="Public Sans" pitchFamily="34" charset="-120"/>
              </a:rPr>
              <a:t>APSS Research Website · Customer check-in 1</a:t>
            </a:r>
            <a:endParaRPr lang="en-US" sz="1200" dirty="0"/>
          </a:p>
        </p:txBody>
      </p:sp>
      <p:sp>
        <p:nvSpPr>
          <p:cNvPr id="16" name="Text 14"/>
          <p:cNvSpPr/>
          <p:nvPr/>
        </p:nvSpPr>
        <p:spPr>
          <a:xfrm>
            <a:off x="11232356" y="6238280"/>
            <a:ext cx="146844"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872"/>
                </a:solidFill>
                <a:latin typeface="Public Sans" pitchFamily="34" charset="0"/>
                <a:ea typeface="Public Sans" pitchFamily="34" charset="-122"/>
                <a:cs typeface="Public Sans" pitchFamily="34" charset="-120"/>
              </a:rPr>
              <a:t>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F6E6E"/>
                </a:solidFill>
                <a:latin typeface="Public Sans" pitchFamily="34" charset="0"/>
                <a:ea typeface="Public Sans" pitchFamily="34" charset="-122"/>
                <a:cs typeface="Public Sans" pitchFamily="34" charset="-120"/>
              </a:rPr>
              <a:t>EMPATHY MAP · DRAFT TO CONFIRM</a:t>
            </a:r>
            <a:endParaRPr lang="en-US" sz="1200" dirty="0"/>
          </a:p>
        </p:txBody>
      </p:sp>
      <p:sp>
        <p:nvSpPr>
          <p:cNvPr id="3" name="Text 1"/>
          <p:cNvSpPr/>
          <p:nvPr>
            <p:ph type="title"/>
          </p:nvPr>
        </p:nvSpPr>
        <p:spPr>
          <a:xfrm>
            <a:off x="812800" y="11277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F2A33"/>
                </a:solidFill>
                <a:latin typeface="Source Serif 4" pitchFamily="18" charset="0"/>
                <a:ea typeface="Source Serif 4" pitchFamily="18" charset="-122"/>
                <a:cs typeface="Source Serif 4" pitchFamily="18" charset="-120"/>
              </a:rPr>
              <a:t>Who is looking for APSS research?</a:t>
            </a:r>
            <a:endParaRPr lang="en-US" sz="3200" dirty="0"/>
          </a:p>
        </p:txBody>
      </p:sp>
      <p:sp>
        <p:nvSpPr>
          <p:cNvPr id="4" name="Shape 2"/>
          <p:cNvSpPr/>
          <p:nvPr/>
        </p:nvSpPr>
        <p:spPr>
          <a:xfrm>
            <a:off x="815975" y="1801416"/>
            <a:ext cx="3473450" cy="1137378"/>
          </a:xfrm>
          <a:prstGeom prst="roundRect">
            <a:avLst>
              <a:gd name="adj" fmla="val 8654"/>
            </a:avLst>
          </a:prstGeom>
          <a:solidFill>
            <a:srgbClr val="FFFDF9"/>
          </a:solidFill>
          <a:ln w="6350">
            <a:solidFill>
              <a:srgbClr val="E2DCD1"/>
            </a:solidFill>
            <a:prstDash val="solid"/>
          </a:ln>
        </p:spPr>
      </p:sp>
      <p:sp>
        <p:nvSpPr>
          <p:cNvPr id="5" name="Text 3"/>
          <p:cNvSpPr/>
          <p:nvPr/>
        </p:nvSpPr>
        <p:spPr>
          <a:xfrm>
            <a:off x="994833" y="1954874"/>
            <a:ext cx="3209205"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F2A33"/>
                </a:solidFill>
                <a:latin typeface="Public Sans" pitchFamily="34" charset="0"/>
                <a:ea typeface="Public Sans" pitchFamily="34" charset="-122"/>
                <a:cs typeface="Public Sans" pitchFamily="34" charset="-120"/>
              </a:rPr>
              <a:t>Says</a:t>
            </a:r>
            <a:endParaRPr lang="en-US" sz="1800" dirty="0"/>
          </a:p>
        </p:txBody>
      </p:sp>
      <p:sp>
        <p:nvSpPr>
          <p:cNvPr id="6" name="Text 4"/>
          <p:cNvSpPr/>
          <p:nvPr/>
        </p:nvSpPr>
        <p:spPr>
          <a:xfrm>
            <a:off x="1079415" y="2305382"/>
            <a:ext cx="3117003" cy="505354"/>
          </a:xfrm>
          <a:prstGeom prst="rect">
            <a:avLst/>
          </a:prstGeom>
          <a:noFill/>
          <a:ln/>
        </p:spPr>
        <p:txBody>
          <a:bodyPr wrap="square" lIns="0" tIns="0" rIns="0" bIns="0" rtlCol="0" anchor="t">
            <a:normAutofit/>
          </a:bodyPr>
          <a:lstStyle/>
          <a:p>
            <a:pPr algn="l" marL="169418" indent="-169418">
              <a:lnSpc>
                <a:spcPts val="1890"/>
              </a:lnSpc>
              <a:buSzPct val="100000"/>
              <a:buChar char="•"/>
            </a:pPr>
            <a:r>
              <a:rPr lang="en-US" sz="1400" dirty="0">
                <a:solidFill>
                  <a:srgbClr val="4A5560"/>
                </a:solidFill>
                <a:latin typeface="Public Sans" pitchFamily="34" charset="0"/>
                <a:ea typeface="Public Sans" pitchFamily="34" charset="-122"/>
                <a:cs typeface="Public Sans" pitchFamily="34" charset="-120"/>
              </a:rPr>
              <a:t>“Where is APSS research?”</a:t>
            </a:r>
            <a:endParaRPr lang="en-US" sz="1400" dirty="0"/>
          </a:p>
          <a:p>
            <a:pPr algn="l" marL="169418" indent="-169418">
              <a:lnSpc>
                <a:spcPts val="1890"/>
              </a:lnSpc>
              <a:buSzPct val="100000"/>
              <a:buChar char="•"/>
            </a:pPr>
            <a:r>
              <a:rPr lang="en-US" sz="1400" dirty="0">
                <a:solidFill>
                  <a:srgbClr val="4A5560"/>
                </a:solidFill>
                <a:latin typeface="Public Sans" pitchFamily="34" charset="0"/>
                <a:ea typeface="Public Sans" pitchFamily="34" charset="-122"/>
                <a:cs typeface="Public Sans" pitchFamily="34" charset="-120"/>
              </a:rPr>
              <a:t>“Is this project current?”</a:t>
            </a:r>
            <a:endParaRPr lang="en-US" sz="1400" dirty="0"/>
          </a:p>
        </p:txBody>
      </p:sp>
      <p:sp>
        <p:nvSpPr>
          <p:cNvPr id="7" name="Shape 5"/>
          <p:cNvSpPr/>
          <p:nvPr/>
        </p:nvSpPr>
        <p:spPr>
          <a:xfrm>
            <a:off x="4448175" y="1801416"/>
            <a:ext cx="3473450" cy="1137378"/>
          </a:xfrm>
          <a:prstGeom prst="roundRect">
            <a:avLst>
              <a:gd name="adj" fmla="val 8654"/>
            </a:avLst>
          </a:prstGeom>
          <a:solidFill>
            <a:srgbClr val="FFFDF9"/>
          </a:solidFill>
          <a:ln w="6350">
            <a:solidFill>
              <a:srgbClr val="E2DCD1"/>
            </a:solidFill>
            <a:prstDash val="solid"/>
          </a:ln>
        </p:spPr>
      </p:sp>
      <p:sp>
        <p:nvSpPr>
          <p:cNvPr id="8" name="Text 6"/>
          <p:cNvSpPr/>
          <p:nvPr/>
        </p:nvSpPr>
        <p:spPr>
          <a:xfrm>
            <a:off x="4627033" y="1954874"/>
            <a:ext cx="3209205"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F2A33"/>
                </a:solidFill>
                <a:latin typeface="Public Sans" pitchFamily="34" charset="0"/>
                <a:ea typeface="Public Sans" pitchFamily="34" charset="-122"/>
                <a:cs typeface="Public Sans" pitchFamily="34" charset="-120"/>
              </a:rPr>
              <a:t>Thinks</a:t>
            </a:r>
            <a:endParaRPr lang="en-US" sz="1800" dirty="0"/>
          </a:p>
        </p:txBody>
      </p:sp>
      <p:sp>
        <p:nvSpPr>
          <p:cNvPr id="9" name="Text 7"/>
          <p:cNvSpPr/>
          <p:nvPr/>
        </p:nvSpPr>
        <p:spPr>
          <a:xfrm>
            <a:off x="4711615" y="2305382"/>
            <a:ext cx="3117003" cy="505354"/>
          </a:xfrm>
          <a:prstGeom prst="rect">
            <a:avLst/>
          </a:prstGeom>
          <a:noFill/>
          <a:ln/>
        </p:spPr>
        <p:txBody>
          <a:bodyPr wrap="square" lIns="0" tIns="0" rIns="0" bIns="0" rtlCol="0" anchor="t">
            <a:normAutofit/>
          </a:bodyPr>
          <a:lstStyle/>
          <a:p>
            <a:pPr algn="l" marL="169418" indent="-169418">
              <a:lnSpc>
                <a:spcPts val="1890"/>
              </a:lnSpc>
              <a:buSzPct val="100000"/>
              <a:buChar char="•"/>
            </a:pPr>
            <a:r>
              <a:rPr lang="en-US" sz="1400" dirty="0">
                <a:solidFill>
                  <a:srgbClr val="4A5560"/>
                </a:solidFill>
                <a:latin typeface="Public Sans" pitchFamily="34" charset="0"/>
                <a:ea typeface="Public Sans" pitchFamily="34" charset="-122"/>
                <a:cs typeface="Public Sans" pitchFamily="34" charset="-120"/>
              </a:rPr>
              <a:t>Can I trust and cite this?</a:t>
            </a:r>
            <a:endParaRPr lang="en-US" sz="1400" dirty="0"/>
          </a:p>
          <a:p>
            <a:pPr algn="l" marL="169418" indent="-169418">
              <a:lnSpc>
                <a:spcPts val="1890"/>
              </a:lnSpc>
              <a:buSzPct val="100000"/>
              <a:buChar char="•"/>
            </a:pPr>
            <a:r>
              <a:rPr lang="en-US" sz="1400" dirty="0">
                <a:solidFill>
                  <a:srgbClr val="4A5560"/>
                </a:solidFill>
                <a:latin typeface="Public Sans" pitchFamily="34" charset="0"/>
                <a:ea typeface="Public Sans" pitchFamily="34" charset="-122"/>
                <a:cs typeface="Public Sans" pitchFamily="34" charset="-120"/>
              </a:rPr>
              <a:t>How do the sites connect?</a:t>
            </a:r>
            <a:endParaRPr lang="en-US" sz="1400" dirty="0"/>
          </a:p>
        </p:txBody>
      </p:sp>
      <p:sp>
        <p:nvSpPr>
          <p:cNvPr id="10" name="Shape 8"/>
          <p:cNvSpPr/>
          <p:nvPr/>
        </p:nvSpPr>
        <p:spPr>
          <a:xfrm>
            <a:off x="815975" y="3097544"/>
            <a:ext cx="3473450" cy="1377355"/>
          </a:xfrm>
          <a:prstGeom prst="roundRect">
            <a:avLst>
              <a:gd name="adj" fmla="val 7146"/>
            </a:avLst>
          </a:prstGeom>
          <a:solidFill>
            <a:srgbClr val="FFFDF9"/>
          </a:solidFill>
          <a:ln w="6350">
            <a:solidFill>
              <a:srgbClr val="E2DCD1"/>
            </a:solidFill>
            <a:prstDash val="solid"/>
          </a:ln>
        </p:spPr>
      </p:sp>
      <p:sp>
        <p:nvSpPr>
          <p:cNvPr id="11" name="Text 9"/>
          <p:cNvSpPr/>
          <p:nvPr/>
        </p:nvSpPr>
        <p:spPr>
          <a:xfrm>
            <a:off x="994833" y="3251002"/>
            <a:ext cx="3209205"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F2A33"/>
                </a:solidFill>
                <a:latin typeface="Public Sans" pitchFamily="34" charset="0"/>
                <a:ea typeface="Public Sans" pitchFamily="34" charset="-122"/>
                <a:cs typeface="Public Sans" pitchFamily="34" charset="-120"/>
              </a:rPr>
              <a:t>Does</a:t>
            </a:r>
            <a:endParaRPr lang="en-US" sz="1800" dirty="0"/>
          </a:p>
        </p:txBody>
      </p:sp>
      <p:sp>
        <p:nvSpPr>
          <p:cNvPr id="12" name="Text 10"/>
          <p:cNvSpPr/>
          <p:nvPr/>
        </p:nvSpPr>
        <p:spPr>
          <a:xfrm>
            <a:off x="1079415" y="3601509"/>
            <a:ext cx="3117003" cy="505354"/>
          </a:xfrm>
          <a:prstGeom prst="rect">
            <a:avLst/>
          </a:prstGeom>
          <a:noFill/>
          <a:ln/>
        </p:spPr>
        <p:txBody>
          <a:bodyPr wrap="square" lIns="0" tIns="0" rIns="0" bIns="0" rtlCol="0" anchor="t">
            <a:normAutofit/>
          </a:bodyPr>
          <a:lstStyle/>
          <a:p>
            <a:pPr algn="l" marL="169418" indent="-169418">
              <a:lnSpc>
                <a:spcPts val="1890"/>
              </a:lnSpc>
              <a:buSzPct val="100000"/>
              <a:buChar char="•"/>
            </a:pPr>
            <a:r>
              <a:rPr lang="en-US" sz="1400" dirty="0">
                <a:solidFill>
                  <a:srgbClr val="4A5560"/>
                </a:solidFill>
                <a:latin typeface="Public Sans" pitchFamily="34" charset="0"/>
                <a:ea typeface="Public Sans" pitchFamily="34" charset="-122"/>
                <a:cs typeface="Public Sans" pitchFamily="34" charset="-120"/>
              </a:rPr>
              <a:t>Searches for articles and posters</a:t>
            </a:r>
            <a:endParaRPr lang="en-US" sz="1400" dirty="0"/>
          </a:p>
          <a:p>
            <a:pPr algn="l" marL="169418" indent="-169418">
              <a:lnSpc>
                <a:spcPts val="1890"/>
              </a:lnSpc>
              <a:buSzPct val="100000"/>
              <a:buChar char="•"/>
            </a:pPr>
            <a:r>
              <a:rPr lang="en-US" sz="1400" dirty="0">
                <a:solidFill>
                  <a:srgbClr val="4A5560"/>
                </a:solidFill>
                <a:latin typeface="Public Sans" pitchFamily="34" charset="0"/>
                <a:ea typeface="Public Sans" pitchFamily="34" charset="-122"/>
                <a:cs typeface="Public Sans" pitchFamily="34" charset="-120"/>
              </a:rPr>
              <a:t>Moves between APSS sites</a:t>
            </a:r>
            <a:endParaRPr lang="en-US" sz="1400" dirty="0"/>
          </a:p>
        </p:txBody>
      </p:sp>
      <p:sp>
        <p:nvSpPr>
          <p:cNvPr id="13" name="Shape 11"/>
          <p:cNvSpPr/>
          <p:nvPr/>
        </p:nvSpPr>
        <p:spPr>
          <a:xfrm>
            <a:off x="4448175" y="3097544"/>
            <a:ext cx="3473450" cy="1377355"/>
          </a:xfrm>
          <a:prstGeom prst="roundRect">
            <a:avLst>
              <a:gd name="adj" fmla="val 7146"/>
            </a:avLst>
          </a:prstGeom>
          <a:solidFill>
            <a:srgbClr val="FFFDF9"/>
          </a:solidFill>
          <a:ln w="6350">
            <a:solidFill>
              <a:srgbClr val="E2DCD1"/>
            </a:solidFill>
            <a:prstDash val="solid"/>
          </a:ln>
        </p:spPr>
      </p:sp>
      <p:sp>
        <p:nvSpPr>
          <p:cNvPr id="14" name="Text 12"/>
          <p:cNvSpPr/>
          <p:nvPr/>
        </p:nvSpPr>
        <p:spPr>
          <a:xfrm>
            <a:off x="4627033" y="3251002"/>
            <a:ext cx="3209205"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F2A33"/>
                </a:solidFill>
                <a:latin typeface="Public Sans" pitchFamily="34" charset="0"/>
                <a:ea typeface="Public Sans" pitchFamily="34" charset="-122"/>
                <a:cs typeface="Public Sans" pitchFamily="34" charset="-120"/>
              </a:rPr>
              <a:t>Feels</a:t>
            </a:r>
            <a:endParaRPr lang="en-US" sz="1800" dirty="0"/>
          </a:p>
        </p:txBody>
      </p:sp>
      <p:sp>
        <p:nvSpPr>
          <p:cNvPr id="15" name="Text 13"/>
          <p:cNvSpPr/>
          <p:nvPr/>
        </p:nvSpPr>
        <p:spPr>
          <a:xfrm>
            <a:off x="4711615" y="3601509"/>
            <a:ext cx="3117003" cy="745331"/>
          </a:xfrm>
          <a:prstGeom prst="rect">
            <a:avLst/>
          </a:prstGeom>
          <a:noFill/>
          <a:ln/>
        </p:spPr>
        <p:txBody>
          <a:bodyPr wrap="square" lIns="0" tIns="0" rIns="0" bIns="0" rtlCol="0" anchor="t">
            <a:normAutofit/>
          </a:bodyPr>
          <a:lstStyle/>
          <a:p>
            <a:pPr algn="l" marL="169418" indent="-169418">
              <a:lnSpc>
                <a:spcPts val="1890"/>
              </a:lnSpc>
              <a:buSzPct val="100000"/>
              <a:buChar char="•"/>
            </a:pPr>
            <a:r>
              <a:rPr lang="en-US" sz="1400" dirty="0">
                <a:solidFill>
                  <a:srgbClr val="4A5560"/>
                </a:solidFill>
                <a:latin typeface="Public Sans" pitchFamily="34" charset="0"/>
                <a:ea typeface="Public Sans" pitchFamily="34" charset="-122"/>
                <a:cs typeface="Public Sans" pitchFamily="34" charset="-120"/>
              </a:rPr>
              <a:t>Lost when research is scattered</a:t>
            </a:r>
            <a:endParaRPr lang="en-US" sz="1400" dirty="0"/>
          </a:p>
          <a:p>
            <a:pPr algn="l" marL="169418" indent="-169418">
              <a:lnSpc>
                <a:spcPts val="1890"/>
              </a:lnSpc>
              <a:buSzPct val="100000"/>
              <a:buChar char="•"/>
            </a:pPr>
            <a:r>
              <a:rPr lang="en-US" sz="1400" dirty="0">
                <a:solidFill>
                  <a:srgbClr val="4A5560"/>
                </a:solidFill>
                <a:latin typeface="Public Sans" pitchFamily="34" charset="0"/>
                <a:ea typeface="Public Sans" pitchFamily="34" charset="-122"/>
                <a:cs typeface="Public Sans" pitchFamily="34" charset="-120"/>
              </a:rPr>
              <a:t>Confident when it looks professional</a:t>
            </a:r>
            <a:endParaRPr lang="en-US" sz="1400" dirty="0"/>
          </a:p>
        </p:txBody>
      </p:sp>
      <p:sp>
        <p:nvSpPr>
          <p:cNvPr id="16" name="Shape 14"/>
          <p:cNvSpPr/>
          <p:nvPr/>
        </p:nvSpPr>
        <p:spPr>
          <a:xfrm>
            <a:off x="8128000" y="1798241"/>
            <a:ext cx="3251200" cy="1442641"/>
          </a:xfrm>
          <a:prstGeom prst="roundRect">
            <a:avLst>
              <a:gd name="adj" fmla="val 7043"/>
            </a:avLst>
          </a:prstGeom>
          <a:solidFill>
            <a:srgbClr val="0E2F33"/>
          </a:solidFill>
          <a:ln/>
        </p:spPr>
      </p:sp>
      <p:sp>
        <p:nvSpPr>
          <p:cNvPr id="17" name="Text 15"/>
          <p:cNvSpPr/>
          <p:nvPr/>
        </p:nvSpPr>
        <p:spPr>
          <a:xfrm>
            <a:off x="8331200" y="2001441"/>
            <a:ext cx="2930144"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2C14E"/>
                </a:solidFill>
                <a:latin typeface="Public Sans" pitchFamily="34" charset="0"/>
                <a:ea typeface="Public Sans" pitchFamily="34" charset="-122"/>
                <a:cs typeface="Public Sans" pitchFamily="34" charset="-120"/>
              </a:rPr>
              <a:t>ASSUMED VISITOR</a:t>
            </a:r>
            <a:endParaRPr lang="en-US" sz="1200" dirty="0"/>
          </a:p>
        </p:txBody>
      </p:sp>
      <p:sp>
        <p:nvSpPr>
          <p:cNvPr id="18" name="Text 16"/>
          <p:cNvSpPr/>
          <p:nvPr/>
        </p:nvSpPr>
        <p:spPr>
          <a:xfrm>
            <a:off x="8331200" y="2290961"/>
            <a:ext cx="2930144" cy="7721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7F5F0"/>
                </a:solidFill>
                <a:latin typeface="Public Sans" pitchFamily="34" charset="0"/>
                <a:ea typeface="Public Sans" pitchFamily="34" charset="-122"/>
                <a:cs typeface="Public Sans" pitchFamily="34" charset="-120"/>
              </a:rPr>
              <a:t>A researcher, partner or community member looking for APSS research</a:t>
            </a:r>
            <a:endParaRPr lang="en-US" sz="1400" dirty="0"/>
          </a:p>
        </p:txBody>
      </p:sp>
      <p:sp>
        <p:nvSpPr>
          <p:cNvPr id="19" name="Shape 17"/>
          <p:cNvSpPr/>
          <p:nvPr/>
        </p:nvSpPr>
        <p:spPr>
          <a:xfrm>
            <a:off x="8128000" y="3393281"/>
            <a:ext cx="3251200" cy="1000720"/>
          </a:xfrm>
          <a:prstGeom prst="roundRect">
            <a:avLst>
              <a:gd name="adj" fmla="val 10153"/>
            </a:avLst>
          </a:prstGeom>
          <a:solidFill>
            <a:srgbClr val="DCEFEA"/>
          </a:solidFill>
          <a:ln/>
        </p:spPr>
      </p:sp>
      <p:pic>
        <p:nvPicPr>
          <p:cNvPr id="20" name="Image 0" descr="Chat">    </p:cNvPr>
          <p:cNvPicPr>
            <a:picLocks noChangeAspect="1"/>
          </p:cNvPicPr>
          <p:nvPr/>
        </p:nvPicPr>
        <p:blipFill>
          <a:blip r:embed="rId1"/>
          <a:srcRect l="-586" r="-586" t="0" b="0"/>
          <a:stretch/>
        </p:blipFill>
        <p:spPr>
          <a:xfrm>
            <a:off x="8305800" y="3779309"/>
            <a:ext cx="102791" cy="228600"/>
          </a:xfrm>
          <a:prstGeom prst="rect">
            <a:avLst/>
          </a:prstGeom>
        </p:spPr>
      </p:pic>
      <p:sp>
        <p:nvSpPr>
          <p:cNvPr id="21" name="Text 18"/>
          <p:cNvSpPr/>
          <p:nvPr/>
        </p:nvSpPr>
        <p:spPr>
          <a:xfrm>
            <a:off x="8535591" y="3520281"/>
            <a:ext cx="2745784" cy="7721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1181D"/>
                </a:solidFill>
                <a:latin typeface="Public Sans" pitchFamily="34" charset="0"/>
                <a:ea typeface="Public Sans" pitchFamily="34" charset="-122"/>
                <a:cs typeface="Public Sans" pitchFamily="34" charset="-120"/>
              </a:rPr>
              <a:t>Who visits most: researchers, funders, community members or media?</a:t>
            </a:r>
            <a:endParaRPr lang="en-US" sz="1400" dirty="0"/>
          </a:p>
        </p:txBody>
      </p:sp>
      <p:sp>
        <p:nvSpPr>
          <p:cNvPr id="22" name="Text 19"/>
          <p:cNvSpPr/>
          <p:nvPr/>
        </p:nvSpPr>
        <p:spPr>
          <a:xfrm>
            <a:off x="812800" y="6238280"/>
            <a:ext cx="390183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872"/>
                </a:solidFill>
                <a:latin typeface="Public Sans" pitchFamily="34" charset="0"/>
                <a:ea typeface="Public Sans" pitchFamily="34" charset="-122"/>
                <a:cs typeface="Public Sans" pitchFamily="34" charset="-120"/>
              </a:rPr>
              <a:t>APSS Research Website · Customer check-in 1</a:t>
            </a:r>
            <a:endParaRPr lang="en-US" sz="1200" dirty="0"/>
          </a:p>
        </p:txBody>
      </p:sp>
      <p:sp>
        <p:nvSpPr>
          <p:cNvPr id="23" name="Text 20"/>
          <p:cNvSpPr/>
          <p:nvPr/>
        </p:nvSpPr>
        <p:spPr>
          <a:xfrm>
            <a:off x="11232555" y="6238280"/>
            <a:ext cx="146645"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872"/>
                </a:solidFill>
                <a:latin typeface="Public Sans" pitchFamily="34" charset="0"/>
                <a:ea typeface="Public Sans" pitchFamily="34" charset="-122"/>
                <a:cs typeface="Public Sans" pitchFamily="34" charset="-120"/>
              </a:rPr>
              <a:t>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F6E6E"/>
                </a:solidFill>
                <a:latin typeface="Public Sans" pitchFamily="34" charset="0"/>
                <a:ea typeface="Public Sans" pitchFamily="34" charset="-122"/>
                <a:cs typeface="Public Sans" pitchFamily="34" charset="-120"/>
              </a:rPr>
              <a:t>PROBLEM INSIGHTS · FROM OUR AFFINITY DIAGRAM</a:t>
            </a:r>
            <a:endParaRPr lang="en-US" sz="1200" dirty="0"/>
          </a:p>
        </p:txBody>
      </p:sp>
      <p:sp>
        <p:nvSpPr>
          <p:cNvPr id="3" name="Text 1"/>
          <p:cNvSpPr/>
          <p:nvPr>
            <p:ph type="title"/>
          </p:nvPr>
        </p:nvSpPr>
        <p:spPr>
          <a:xfrm>
            <a:off x="812800" y="11277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F2A33"/>
                </a:solidFill>
                <a:latin typeface="Source Serif 4" pitchFamily="18" charset="0"/>
                <a:ea typeface="Source Serif 4" pitchFamily="18" charset="-122"/>
                <a:cs typeface="Source Serif 4" pitchFamily="18" charset="-120"/>
              </a:rPr>
              <a:t>What visitors need, and why</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810941"/>
          <a:ext cx="10553700" cy="2315766"/>
        </p:xfrm>
        <a:graphic>
          <a:graphicData uri="http://schemas.openxmlformats.org/drawingml/2006/table">
            <a:tbl>
              <a:tblPr/>
              <a:tblGrid>
                <a:gridCol w="2321814"/>
                <a:gridCol w="4115943"/>
                <a:gridCol w="4115943"/>
              </a:tblGrid>
              <a:tr h="385961">
                <a:tc>
                  <a:txBody>
                    <a:bodyPr/>
                    <a:lstStyle/>
                    <a:p>
                      <a:pPr indent="0" marL="0">
                        <a:lnSpc>
                          <a:spcPts val="1960"/>
                        </a:lnSpc>
                        <a:buNone/>
                      </a:pPr>
                      <a:r>
                        <a:rPr lang="en-US" sz="1400" b="1" dirty="0">
                          <a:solidFill>
                            <a:srgbClr val="1F2A33"/>
                          </a:solidFill>
                          <a:latin typeface="Public Sans" pitchFamily="34" charset="0"/>
                          <a:ea typeface="Public Sans" pitchFamily="34" charset="-122"/>
                          <a:cs typeface="Public Sans" pitchFamily="34" charset="-120"/>
                        </a:rPr>
                        <a:t>Theme</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BDB9B2"/>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DB9B2"/>
                      </a:solidFill>
                      <a:prstDash val="solid"/>
                      <a:round/>
                      <a:headEnd type="none" w="med" len="med"/>
                      <a:tailEnd type="none" w="med" len="med"/>
                    </a:lnB>
                    <a:solidFill>
                      <a:srgbClr val="EDE8DF"/>
                    </a:solidFill>
                  </a:tcPr>
                </a:tc>
                <a:tc>
                  <a:txBody>
                    <a:bodyPr/>
                    <a:lstStyle/>
                    <a:p>
                      <a:pPr indent="0" marL="0">
                        <a:lnSpc>
                          <a:spcPts val="1960"/>
                        </a:lnSpc>
                        <a:buNone/>
                      </a:pPr>
                      <a:r>
                        <a:rPr lang="en-US" sz="1400" b="1" dirty="0">
                          <a:solidFill>
                            <a:srgbClr val="1F2A33"/>
                          </a:solidFill>
                          <a:latin typeface="Public Sans" pitchFamily="34" charset="0"/>
                          <a:ea typeface="Public Sans" pitchFamily="34" charset="-122"/>
                          <a:cs typeface="Public Sans" pitchFamily="34" charset="-120"/>
                        </a:rPr>
                        <a:t>What visitors need</a:t>
                      </a:r>
                      <a:endParaRPr lang="en-US" sz="1400" dirty="0">
                        <a:latin typeface="Public Sans" charset="0"/>
                        <a:ea typeface="Public Sans" charset="0"/>
                        <a:cs typeface="Public Sans" charset="0"/>
                      </a:endParaRPr>
                    </a:p>
                  </a:txBody>
                  <a:tcPr marL="62230" marR="62230" marT="62230" marB="62230" anchor="t">
                    <a:lnL w="12700" cap="flat" cmpd="sng" algn="ctr">
                      <a:solidFill>
                        <a:srgbClr val="BDB9B2"/>
                      </a:solidFill>
                      <a:prstDash val="solid"/>
                      <a:round/>
                      <a:headEnd type="none" w="med" len="med"/>
                      <a:tailEnd type="none" w="med" len="med"/>
                    </a:lnL>
                    <a:lnR w="12700" cap="flat" cmpd="sng" algn="ctr">
                      <a:solidFill>
                        <a:srgbClr val="BDB9B2"/>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DB9B2"/>
                      </a:solidFill>
                      <a:prstDash val="solid"/>
                      <a:round/>
                      <a:headEnd type="none" w="med" len="med"/>
                      <a:tailEnd type="none" w="med" len="med"/>
                    </a:lnB>
                    <a:solidFill>
                      <a:srgbClr val="EDE8DF"/>
                    </a:solidFill>
                  </a:tcPr>
                </a:tc>
                <a:tc>
                  <a:txBody>
                    <a:bodyPr/>
                    <a:lstStyle/>
                    <a:p>
                      <a:pPr indent="0" marL="0">
                        <a:lnSpc>
                          <a:spcPts val="1960"/>
                        </a:lnSpc>
                        <a:buNone/>
                      </a:pPr>
                      <a:r>
                        <a:rPr lang="en-US" sz="1400" b="1" dirty="0">
                          <a:solidFill>
                            <a:srgbClr val="1F2A33"/>
                          </a:solidFill>
                          <a:latin typeface="Public Sans" pitchFamily="34" charset="0"/>
                          <a:ea typeface="Public Sans" pitchFamily="34" charset="-122"/>
                          <a:cs typeface="Public Sans" pitchFamily="34" charset="-120"/>
                        </a:rPr>
                        <a:t>Why it matters</a:t>
                      </a:r>
                      <a:endParaRPr lang="en-US" sz="1400" dirty="0">
                        <a:latin typeface="Public Sans" charset="0"/>
                        <a:ea typeface="Public Sans" charset="0"/>
                        <a:cs typeface="Public Sans" charset="0"/>
                      </a:endParaRPr>
                    </a:p>
                  </a:txBody>
                  <a:tcPr marL="62230" marR="62230" marT="62230" marB="62230" anchor="t">
                    <a:lnL w="12700" cap="flat" cmpd="sng" algn="ctr">
                      <a:solidFill>
                        <a:srgbClr val="BDB9B2"/>
                      </a:solidFill>
                      <a:prstDash val="solid"/>
                      <a:round/>
                      <a:headEnd type="none" w="med" len="med"/>
                      <a:tailEnd type="none" w="med" len="med"/>
                    </a:lnL>
                    <a:lnR w="12700" cap="flat" cmpd="sng" algn="ctr">
                      <a:solidFill>
                        <a:srgbClr val="BDB9B2"/>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DB9B2"/>
                      </a:solidFill>
                      <a:prstDash val="solid"/>
                      <a:round/>
                      <a:headEnd type="none" w="med" len="med"/>
                      <a:tailEnd type="none" w="med" len="med"/>
                    </a:lnB>
                    <a:solidFill>
                      <a:srgbClr val="EDE8DF"/>
                    </a:solidFill>
                  </a:tcPr>
                </a:tc>
              </a:tr>
              <a:tr h="385961">
                <a:tc>
                  <a:txBody>
                    <a:bodyPr/>
                    <a:lstStyle/>
                    <a:p>
                      <a:pPr indent="0" marL="0">
                        <a:lnSpc>
                          <a:spcPts val="1960"/>
                        </a:lnSpc>
                        <a:buNone/>
                      </a:pPr>
                      <a:r>
                        <a:rPr lang="en-US" sz="1400" dirty="0">
                          <a:solidFill>
                            <a:srgbClr val="1F2A33"/>
                          </a:solidFill>
                          <a:latin typeface="Public Sans" pitchFamily="34" charset="0"/>
                          <a:ea typeface="Public Sans" pitchFamily="34" charset="-122"/>
                          <a:cs typeface="Public Sans" pitchFamily="34" charset="-120"/>
                        </a:rPr>
                        <a:t>Research projects</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DB9B2"/>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960"/>
                        </a:lnSpc>
                        <a:buNone/>
                      </a:pPr>
                      <a:r>
                        <a:rPr lang="en-US" sz="1400" dirty="0">
                          <a:solidFill>
                            <a:srgbClr val="1F2A33"/>
                          </a:solidFill>
                          <a:latin typeface="Public Sans" pitchFamily="34" charset="0"/>
                          <a:ea typeface="Public Sans" pitchFamily="34" charset="-122"/>
                          <a:cs typeface="Public Sans" pitchFamily="34" charset="-120"/>
                        </a:rPr>
                        <a:t>Browse current and completed projects</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DB9B2"/>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960"/>
                        </a:lnSpc>
                        <a:buNone/>
                      </a:pPr>
                      <a:r>
                        <a:rPr lang="en-US" sz="1400" dirty="0">
                          <a:solidFill>
                            <a:srgbClr val="1F2A33"/>
                          </a:solidFill>
                          <a:latin typeface="Public Sans" pitchFamily="34" charset="0"/>
                          <a:ea typeface="Public Sans" pitchFamily="34" charset="-122"/>
                          <a:cs typeface="Public Sans" pitchFamily="34" charset="-120"/>
                        </a:rPr>
                        <a:t>Shows finished and ongoing work</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DB9B2"/>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385961">
                <a:tc>
                  <a:txBody>
                    <a:bodyPr/>
                    <a:lstStyle/>
                    <a:p>
                      <a:pPr indent="0" marL="0">
                        <a:lnSpc>
                          <a:spcPts val="1960"/>
                        </a:lnSpc>
                        <a:buNone/>
                      </a:pPr>
                      <a:r>
                        <a:rPr lang="en-US" sz="1400" dirty="0">
                          <a:solidFill>
                            <a:srgbClr val="1F2A33"/>
                          </a:solidFill>
                          <a:latin typeface="Public Sans" pitchFamily="34" charset="0"/>
                          <a:ea typeface="Public Sans" pitchFamily="34" charset="-122"/>
                          <a:cs typeface="Public Sans" pitchFamily="34" charset="-120"/>
                        </a:rPr>
                        <a:t>Research materials</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9"/>
                    </a:solidFill>
                  </a:tcPr>
                </a:tc>
                <a:tc>
                  <a:txBody>
                    <a:bodyPr/>
                    <a:lstStyle/>
                    <a:p>
                      <a:pPr indent="0" marL="0">
                        <a:lnSpc>
                          <a:spcPts val="1960"/>
                        </a:lnSpc>
                        <a:buNone/>
                      </a:pPr>
                      <a:r>
                        <a:rPr lang="en-US" sz="1400" dirty="0">
                          <a:solidFill>
                            <a:srgbClr val="1F2A33"/>
                          </a:solidFill>
                          <a:latin typeface="Public Sans" pitchFamily="34" charset="0"/>
                          <a:ea typeface="Public Sans" pitchFamily="34" charset="-122"/>
                          <a:cs typeface="Public Sans" pitchFamily="34" charset="-120"/>
                        </a:rPr>
                        <a:t>Reach articles and posters quickly</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9"/>
                    </a:solidFill>
                  </a:tcPr>
                </a:tc>
                <a:tc>
                  <a:txBody>
                    <a:bodyPr/>
                    <a:lstStyle/>
                    <a:p>
                      <a:pPr indent="0" marL="0">
                        <a:lnSpc>
                          <a:spcPts val="1960"/>
                        </a:lnSpc>
                        <a:buNone/>
                      </a:pPr>
                      <a:r>
                        <a:rPr lang="en-US" sz="1400" dirty="0">
                          <a:solidFill>
                            <a:srgbClr val="1F2A33"/>
                          </a:solidFill>
                          <a:latin typeface="Public Sans" pitchFamily="34" charset="0"/>
                          <a:ea typeface="Public Sans" pitchFamily="34" charset="-122"/>
                          <a:cs typeface="Public Sans" pitchFamily="34" charset="-120"/>
                        </a:rPr>
                        <a:t>Materials exist but have no home</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9"/>
                    </a:solidFill>
                  </a:tcPr>
                </a:tc>
              </a:tr>
              <a:tr h="385961">
                <a:tc>
                  <a:txBody>
                    <a:bodyPr/>
                    <a:lstStyle/>
                    <a:p>
                      <a:pPr indent="0" marL="0">
                        <a:lnSpc>
                          <a:spcPts val="1960"/>
                        </a:lnSpc>
                        <a:buNone/>
                      </a:pPr>
                      <a:r>
                        <a:rPr lang="en-US" sz="1400" dirty="0">
                          <a:solidFill>
                            <a:srgbClr val="1F2A33"/>
                          </a:solidFill>
                          <a:latin typeface="Public Sans" pitchFamily="34" charset="0"/>
                          <a:ea typeface="Public Sans" pitchFamily="34" charset="-122"/>
                          <a:cs typeface="Public Sans" pitchFamily="34" charset="-120"/>
                        </a:rPr>
                        <a:t>Research updates</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960"/>
                        </a:lnSpc>
                        <a:buNone/>
                      </a:pPr>
                      <a:r>
                        <a:rPr lang="en-US" sz="1400" dirty="0">
                          <a:solidFill>
                            <a:srgbClr val="1F2A33"/>
                          </a:solidFill>
                          <a:latin typeface="Public Sans" pitchFamily="34" charset="0"/>
                          <a:ea typeface="Public Sans" pitchFamily="34" charset="-122"/>
                          <a:cs typeface="Public Sans" pitchFamily="34" charset="-120"/>
                        </a:rPr>
                        <a:t>Follow ongoing work through a blog</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960"/>
                        </a:lnSpc>
                        <a:buNone/>
                      </a:pPr>
                      <a:r>
                        <a:rPr lang="en-US" sz="1400" dirty="0">
                          <a:solidFill>
                            <a:srgbClr val="1F2A33"/>
                          </a:solidFill>
                          <a:latin typeface="Public Sans" pitchFamily="34" charset="0"/>
                          <a:ea typeface="Public Sans" pitchFamily="34" charset="-122"/>
                          <a:cs typeface="Public Sans" pitchFamily="34" charset="-120"/>
                        </a:rPr>
                        <a:t>Keeps partners informed over time</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385961">
                <a:tc>
                  <a:txBody>
                    <a:bodyPr/>
                    <a:lstStyle/>
                    <a:p>
                      <a:pPr indent="0" marL="0">
                        <a:lnSpc>
                          <a:spcPts val="1960"/>
                        </a:lnSpc>
                        <a:buNone/>
                      </a:pPr>
                      <a:r>
                        <a:rPr lang="en-US" sz="1400" dirty="0">
                          <a:solidFill>
                            <a:srgbClr val="1F2A33"/>
                          </a:solidFill>
                          <a:latin typeface="Public Sans" pitchFamily="34" charset="0"/>
                          <a:ea typeface="Public Sans" pitchFamily="34" charset="-122"/>
                          <a:cs typeface="Public Sans" pitchFamily="34" charset="-120"/>
                        </a:rPr>
                        <a:t>Connected websites</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9"/>
                    </a:solidFill>
                  </a:tcPr>
                </a:tc>
                <a:tc>
                  <a:txBody>
                    <a:bodyPr/>
                    <a:lstStyle/>
                    <a:p>
                      <a:pPr indent="0" marL="0">
                        <a:lnSpc>
                          <a:spcPts val="1960"/>
                        </a:lnSpc>
                        <a:buNone/>
                      </a:pPr>
                      <a:r>
                        <a:rPr lang="en-US" sz="1400" dirty="0">
                          <a:solidFill>
                            <a:srgbClr val="1F2A33"/>
                          </a:solidFill>
                          <a:latin typeface="Public Sans" pitchFamily="34" charset="0"/>
                          <a:ea typeface="Public Sans" pitchFamily="34" charset="-122"/>
                          <a:cs typeface="Public Sans" pitchFamily="34" charset="-120"/>
                        </a:rPr>
                        <a:t>Move easily between all three sites</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9"/>
                    </a:solidFill>
                  </a:tcPr>
                </a:tc>
                <a:tc>
                  <a:txBody>
                    <a:bodyPr/>
                    <a:lstStyle/>
                    <a:p>
                      <a:pPr indent="0" marL="0">
                        <a:lnSpc>
                          <a:spcPts val="1960"/>
                        </a:lnSpc>
                        <a:buNone/>
                      </a:pPr>
                      <a:r>
                        <a:rPr lang="en-US" sz="1400" dirty="0">
                          <a:solidFill>
                            <a:srgbClr val="1F2A33"/>
                          </a:solidFill>
                          <a:latin typeface="Public Sans" pitchFamily="34" charset="0"/>
                          <a:ea typeface="Public Sans" pitchFamily="34" charset="-122"/>
                          <a:cs typeface="Public Sans" pitchFamily="34" charset="-120"/>
                        </a:rPr>
                        <a:t>The sites serve one mission</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9"/>
                    </a:solidFill>
                  </a:tcPr>
                </a:tc>
              </a:tr>
              <a:tr h="385961">
                <a:tc>
                  <a:txBody>
                    <a:bodyPr/>
                    <a:lstStyle/>
                    <a:p>
                      <a:pPr indent="0" marL="0">
                        <a:lnSpc>
                          <a:spcPts val="1960"/>
                        </a:lnSpc>
                        <a:buNone/>
                      </a:pPr>
                      <a:r>
                        <a:rPr lang="en-US" sz="1400" dirty="0">
                          <a:solidFill>
                            <a:srgbClr val="1F2A33"/>
                          </a:solidFill>
                          <a:latin typeface="Public Sans" pitchFamily="34" charset="0"/>
                          <a:ea typeface="Public Sans" pitchFamily="34" charset="-122"/>
                          <a:cs typeface="Public Sans" pitchFamily="34" charset="-120"/>
                        </a:rPr>
                        <a:t>Website experience</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960"/>
                        </a:lnSpc>
                        <a:buNone/>
                      </a:pPr>
                      <a:r>
                        <a:rPr lang="en-US" sz="1400" dirty="0">
                          <a:solidFill>
                            <a:srgbClr val="1F2A33"/>
                          </a:solidFill>
                          <a:latin typeface="Public Sans" pitchFamily="34" charset="0"/>
                          <a:ea typeface="Public Sans" pitchFamily="34" charset="-122"/>
                          <a:cs typeface="Public Sans" pitchFamily="34" charset="-120"/>
                        </a:rPr>
                        <a:t>A clear, professional, easy site</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960"/>
                        </a:lnSpc>
                        <a:buNone/>
                      </a:pPr>
                      <a:r>
                        <a:rPr lang="en-US" sz="1400" dirty="0">
                          <a:solidFill>
                            <a:srgbClr val="1F2A33"/>
                          </a:solidFill>
                          <a:latin typeface="Public Sans" pitchFamily="34" charset="0"/>
                          <a:ea typeface="Public Sans" pitchFamily="34" charset="-122"/>
                          <a:cs typeface="Public Sans" pitchFamily="34" charset="-120"/>
                        </a:rPr>
                        <a:t>Builds trust; must run on WordPress</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bl>
          </a:graphicData>
        </a:graphic>
      </p:graphicFrame>
      <p:sp>
        <p:nvSpPr>
          <p:cNvPr id="5" name="Shape 2"/>
          <p:cNvSpPr/>
          <p:nvPr/>
        </p:nvSpPr>
        <p:spPr>
          <a:xfrm>
            <a:off x="812800" y="4329906"/>
            <a:ext cx="10566400" cy="452107"/>
          </a:xfrm>
          <a:prstGeom prst="roundRect">
            <a:avLst>
              <a:gd name="adj" fmla="val 22473"/>
            </a:avLst>
          </a:prstGeom>
          <a:solidFill>
            <a:srgbClr val="DCEFEA"/>
          </a:solidFill>
          <a:ln/>
        </p:spPr>
      </p:sp>
      <p:pic>
        <p:nvPicPr>
          <p:cNvPr id="6" name="Image 0" descr="Chat">    </p:cNvPr>
          <p:cNvPicPr>
            <a:picLocks noChangeAspect="1"/>
          </p:cNvPicPr>
          <p:nvPr/>
        </p:nvPicPr>
        <p:blipFill>
          <a:blip r:embed="rId1"/>
          <a:srcRect l="0" r="0" t="0" b="0"/>
          <a:stretch/>
        </p:blipFill>
        <p:spPr>
          <a:xfrm>
            <a:off x="990600" y="4441627"/>
            <a:ext cx="228600" cy="228600"/>
          </a:xfrm>
          <a:prstGeom prst="rect">
            <a:avLst/>
          </a:prstGeom>
        </p:spPr>
      </p:pic>
      <p:sp>
        <p:nvSpPr>
          <p:cNvPr id="7" name="Text 3"/>
          <p:cNvSpPr/>
          <p:nvPr/>
        </p:nvSpPr>
        <p:spPr>
          <a:xfrm>
            <a:off x="1346200" y="4431506"/>
            <a:ext cx="3840242" cy="27430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1181D"/>
                </a:solidFill>
                <a:latin typeface="Public Sans" pitchFamily="34" charset="0"/>
                <a:ea typeface="Public Sans" pitchFamily="34" charset="-122"/>
                <a:cs typeface="Public Sans" pitchFamily="34" charset="-120"/>
              </a:rPr>
              <a:t>Did we miss a need your visitors have?</a:t>
            </a:r>
            <a:endParaRPr lang="en-US" sz="1400" dirty="0"/>
          </a:p>
        </p:txBody>
      </p:sp>
      <p:sp>
        <p:nvSpPr>
          <p:cNvPr id="8" name="Text 4"/>
          <p:cNvSpPr/>
          <p:nvPr/>
        </p:nvSpPr>
        <p:spPr>
          <a:xfrm>
            <a:off x="812800" y="6238280"/>
            <a:ext cx="390183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872"/>
                </a:solidFill>
                <a:latin typeface="Public Sans" pitchFamily="34" charset="0"/>
                <a:ea typeface="Public Sans" pitchFamily="34" charset="-122"/>
                <a:cs typeface="Public Sans" pitchFamily="34" charset="-120"/>
              </a:rPr>
              <a:t>APSS Research Website · Customer check-in 1</a:t>
            </a:r>
            <a:endParaRPr lang="en-US" sz="1200" dirty="0"/>
          </a:p>
        </p:txBody>
      </p:sp>
      <p:sp>
        <p:nvSpPr>
          <p:cNvPr id="9" name="Text 5"/>
          <p:cNvSpPr/>
          <p:nvPr/>
        </p:nvSpPr>
        <p:spPr>
          <a:xfrm>
            <a:off x="11230769" y="6238280"/>
            <a:ext cx="148431"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872"/>
                </a:solidFill>
                <a:latin typeface="Public Sans" pitchFamily="34" charset="0"/>
                <a:ea typeface="Public Sans" pitchFamily="34" charset="-122"/>
                <a:cs typeface="Public Sans" pitchFamily="34" charset="-120"/>
              </a:rPr>
              <a:t>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F6E6E"/>
                </a:solidFill>
                <a:latin typeface="Public Sans" pitchFamily="34" charset="0"/>
                <a:ea typeface="Public Sans" pitchFamily="34" charset="-122"/>
                <a:cs typeface="Public Sans" pitchFamily="34" charset="-120"/>
              </a:rPr>
              <a:t>SITE MAP · OPTION A</a:t>
            </a:r>
            <a:endParaRPr lang="en-US" sz="1200" dirty="0"/>
          </a:p>
        </p:txBody>
      </p:sp>
      <p:sp>
        <p:nvSpPr>
          <p:cNvPr id="3" name="Text 1"/>
          <p:cNvSpPr/>
          <p:nvPr>
            <p:ph type="title"/>
          </p:nvPr>
        </p:nvSpPr>
        <p:spPr>
          <a:xfrm>
            <a:off x="812800" y="11277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F2A33"/>
                </a:solidFill>
                <a:latin typeface="Source Serif 4" pitchFamily="18" charset="0"/>
                <a:ea typeface="Source Serif 4" pitchFamily="18" charset="-122"/>
                <a:cs typeface="Source Serif 4" pitchFamily="18" charset="-120"/>
              </a:rPr>
              <a:t>Option A: a lean structure</a:t>
            </a:r>
            <a:endParaRPr lang="en-US" sz="3200" dirty="0"/>
          </a:p>
        </p:txBody>
      </p:sp>
      <p:sp>
        <p:nvSpPr>
          <p:cNvPr id="4" name="Text 2"/>
          <p:cNvSpPr/>
          <p:nvPr/>
        </p:nvSpPr>
        <p:spPr>
          <a:xfrm>
            <a:off x="5541897" y="1798241"/>
            <a:ext cx="1108141" cy="426707"/>
          </a:xfrm>
          <a:prstGeom prst="roundRect">
            <a:avLst>
              <a:gd name="adj" fmla="val 50000"/>
            </a:avLst>
          </a:prstGeom>
          <a:solidFill>
            <a:srgbClr val="0E2F33"/>
          </a:solidFill>
          <a:ln/>
        </p:spPr>
        <p:txBody>
          <a:bodyPr wrap="none" lIns="0" tIns="0" rIns="0" bIns="0" rtlCol="0" anchor="ctr">
            <a:normAutofit/>
          </a:bodyPr>
          <a:lstStyle/>
          <a:p>
            <a:pPr algn="ctr" indent="0" marL="0">
              <a:lnSpc>
                <a:spcPts val="1960"/>
              </a:lnSpc>
              <a:buNone/>
            </a:pPr>
            <a:r>
              <a:rPr lang="en-US" sz="1400" b="1" dirty="0">
                <a:solidFill>
                  <a:srgbClr val="F7F5F0"/>
                </a:solidFill>
                <a:latin typeface="Public Sans" pitchFamily="34" charset="0"/>
                <a:ea typeface="Public Sans" pitchFamily="34" charset="-122"/>
                <a:cs typeface="Public Sans" pitchFamily="34" charset="-120"/>
              </a:rPr>
              <a:t>Home</a:t>
            </a:r>
            <a:endParaRPr lang="en-US" sz="1400" dirty="0"/>
          </a:p>
        </p:txBody>
      </p:sp>
      <p:sp>
        <p:nvSpPr>
          <p:cNvPr id="5" name="Shape 3"/>
          <p:cNvSpPr/>
          <p:nvPr/>
        </p:nvSpPr>
        <p:spPr>
          <a:xfrm>
            <a:off x="6089650" y="2224949"/>
            <a:ext cx="12700" cy="152400"/>
          </a:xfrm>
          <a:prstGeom prst="rect">
            <a:avLst/>
          </a:prstGeom>
          <a:solidFill>
            <a:srgbClr val="9AA3AB"/>
          </a:solidFill>
          <a:ln/>
        </p:spPr>
      </p:sp>
      <p:sp>
        <p:nvSpPr>
          <p:cNvPr id="6" name="Shape 4"/>
          <p:cNvSpPr/>
          <p:nvPr/>
        </p:nvSpPr>
        <p:spPr>
          <a:xfrm>
            <a:off x="2057400" y="2377349"/>
            <a:ext cx="8077200" cy="12700"/>
          </a:xfrm>
          <a:prstGeom prst="rect">
            <a:avLst/>
          </a:prstGeom>
          <a:solidFill>
            <a:srgbClr val="9AA3AB"/>
          </a:solidFill>
          <a:ln/>
        </p:spPr>
      </p:sp>
      <p:sp>
        <p:nvSpPr>
          <p:cNvPr id="7" name="Shape 5"/>
          <p:cNvSpPr/>
          <p:nvPr/>
        </p:nvSpPr>
        <p:spPr>
          <a:xfrm>
            <a:off x="2051050" y="2390049"/>
            <a:ext cx="12700" cy="152400"/>
          </a:xfrm>
          <a:prstGeom prst="rect">
            <a:avLst/>
          </a:prstGeom>
          <a:solidFill>
            <a:srgbClr val="9AA3AB"/>
          </a:solidFill>
          <a:ln/>
        </p:spPr>
      </p:sp>
      <p:sp>
        <p:nvSpPr>
          <p:cNvPr id="8" name="Text 6"/>
          <p:cNvSpPr/>
          <p:nvPr/>
        </p:nvSpPr>
        <p:spPr>
          <a:xfrm>
            <a:off x="819150" y="2548799"/>
            <a:ext cx="2476500" cy="439407"/>
          </a:xfrm>
          <a:prstGeom prst="roundRect">
            <a:avLst>
              <a:gd name="adj" fmla="val 15896"/>
            </a:avLst>
          </a:prstGeom>
          <a:solidFill>
            <a:srgbClr val="EDE8DF"/>
          </a:solidFill>
          <a:ln w="12700">
            <a:solidFill>
              <a:srgbClr val="1F2A33"/>
            </a:solidFill>
            <a:prstDash val="solid"/>
          </a:ln>
        </p:spPr>
        <p:txBody>
          <a:bodyPr wrap="square" lIns="53583" tIns="74792" rIns="53583" bIns="49392" rtlCol="0" anchor="t">
            <a:normAutofit/>
          </a:bodyPr>
          <a:lstStyle/>
          <a:p>
            <a:pPr algn="ctr" indent="0" marL="0">
              <a:lnSpc>
                <a:spcPts val="1960"/>
              </a:lnSpc>
              <a:buNone/>
            </a:pPr>
            <a:r>
              <a:rPr lang="en-US" sz="1400" b="1" dirty="0">
                <a:solidFill>
                  <a:srgbClr val="1F2A33"/>
                </a:solidFill>
                <a:latin typeface="Public Sans" pitchFamily="34" charset="0"/>
                <a:ea typeface="Public Sans" pitchFamily="34" charset="-122"/>
                <a:cs typeface="Public Sans" pitchFamily="34" charset="-120"/>
              </a:rPr>
              <a:t>Research Projects</a:t>
            </a:r>
            <a:endParaRPr lang="en-US" sz="1400" dirty="0"/>
          </a:p>
        </p:txBody>
      </p:sp>
      <p:sp>
        <p:nvSpPr>
          <p:cNvPr id="9" name="Text 7"/>
          <p:cNvSpPr/>
          <p:nvPr/>
        </p:nvSpPr>
        <p:spPr>
          <a:xfrm>
            <a:off x="815975" y="3073930"/>
            <a:ext cx="2482850" cy="369094"/>
          </a:xfrm>
          <a:prstGeom prst="roundRect">
            <a:avLst>
              <a:gd name="adj" fmla="val 19785"/>
            </a:avLst>
          </a:prstGeom>
          <a:solidFill>
            <a:srgbClr val="FFFDF9"/>
          </a:solidFill>
          <a:ln w="6350">
            <a:solidFill>
              <a:srgbClr val="D9D2C5"/>
            </a:solidFill>
            <a:prstDash val="solid"/>
          </a:ln>
        </p:spPr>
        <p:txBody>
          <a:bodyPr wrap="square" lIns="81270" tIns="43170" rIns="12944" bIns="17770" rtlCol="0" anchor="t">
            <a:normAutofit/>
          </a:bodyPr>
          <a:lstStyle/>
          <a:p>
            <a:pPr algn="l" indent="0" marL="0">
              <a:lnSpc>
                <a:spcPts val="1890"/>
              </a:lnSpc>
              <a:buNone/>
            </a:pPr>
            <a:r>
              <a:rPr lang="en-US" sz="1400" dirty="0">
                <a:solidFill>
                  <a:srgbClr val="1F2A33"/>
                </a:solidFill>
                <a:latin typeface="Public Sans" pitchFamily="34" charset="0"/>
                <a:ea typeface="Public Sans" pitchFamily="34" charset="-122"/>
                <a:cs typeface="Public Sans" pitchFamily="34" charset="-120"/>
              </a:rPr>
              <a:t>Current Projects</a:t>
            </a:r>
            <a:endParaRPr lang="en-US" sz="1400" dirty="0"/>
          </a:p>
        </p:txBody>
      </p:sp>
      <p:sp>
        <p:nvSpPr>
          <p:cNvPr id="10" name="Text 8"/>
          <p:cNvSpPr/>
          <p:nvPr/>
        </p:nvSpPr>
        <p:spPr>
          <a:xfrm>
            <a:off x="815975" y="3525574"/>
            <a:ext cx="2482850" cy="369094"/>
          </a:xfrm>
          <a:prstGeom prst="roundRect">
            <a:avLst>
              <a:gd name="adj" fmla="val 19785"/>
            </a:avLst>
          </a:prstGeom>
          <a:solidFill>
            <a:srgbClr val="FFFDF9"/>
          </a:solidFill>
          <a:ln w="6350">
            <a:solidFill>
              <a:srgbClr val="D9D2C5"/>
            </a:solidFill>
            <a:prstDash val="solid"/>
          </a:ln>
        </p:spPr>
        <p:txBody>
          <a:bodyPr wrap="square" lIns="81270" tIns="43170" rIns="12944" bIns="17770" rtlCol="0" anchor="t">
            <a:normAutofit/>
          </a:bodyPr>
          <a:lstStyle/>
          <a:p>
            <a:pPr algn="l" indent="0" marL="0">
              <a:lnSpc>
                <a:spcPts val="1890"/>
              </a:lnSpc>
              <a:buNone/>
            </a:pPr>
            <a:r>
              <a:rPr lang="en-US" sz="1400" dirty="0">
                <a:solidFill>
                  <a:srgbClr val="1F2A33"/>
                </a:solidFill>
                <a:latin typeface="Public Sans" pitchFamily="34" charset="0"/>
                <a:ea typeface="Public Sans" pitchFamily="34" charset="-122"/>
                <a:cs typeface="Public Sans" pitchFamily="34" charset="-120"/>
              </a:rPr>
              <a:t>Completed Projects</a:t>
            </a:r>
            <a:endParaRPr lang="en-US" sz="1400" dirty="0"/>
          </a:p>
        </p:txBody>
      </p:sp>
      <p:sp>
        <p:nvSpPr>
          <p:cNvPr id="11" name="Text 9"/>
          <p:cNvSpPr/>
          <p:nvPr/>
        </p:nvSpPr>
        <p:spPr>
          <a:xfrm>
            <a:off x="815975" y="3977218"/>
            <a:ext cx="2482850" cy="609071"/>
          </a:xfrm>
          <a:prstGeom prst="roundRect">
            <a:avLst>
              <a:gd name="adj" fmla="val 11990"/>
            </a:avLst>
          </a:prstGeom>
          <a:solidFill>
            <a:srgbClr val="FFFDF9"/>
          </a:solidFill>
          <a:ln w="6350">
            <a:solidFill>
              <a:srgbClr val="D9D2C5"/>
            </a:solidFill>
            <a:prstDash val="solid"/>
          </a:ln>
        </p:spPr>
        <p:txBody>
          <a:bodyPr wrap="square" lIns="81270" tIns="43170" rIns="12944" bIns="17770" rtlCol="0" anchor="t">
            <a:normAutofit/>
          </a:bodyPr>
          <a:lstStyle/>
          <a:p>
            <a:pPr algn="l" indent="0" marL="0">
              <a:lnSpc>
                <a:spcPts val="1890"/>
              </a:lnSpc>
              <a:buNone/>
            </a:pPr>
            <a:r>
              <a:rPr lang="en-US" sz="1400" dirty="0">
                <a:solidFill>
                  <a:srgbClr val="1F2A33"/>
                </a:solidFill>
                <a:latin typeface="Public Sans" pitchFamily="34" charset="0"/>
                <a:ea typeface="Public Sans" pitchFamily="34" charset="-122"/>
                <a:cs typeface="Public Sans" pitchFamily="34" charset="-120"/>
              </a:rPr>
              <a:t>Project Details page (one per project)</a:t>
            </a:r>
            <a:endParaRPr lang="en-US" sz="1400" dirty="0"/>
          </a:p>
        </p:txBody>
      </p:sp>
      <p:sp>
        <p:nvSpPr>
          <p:cNvPr id="12" name="Shape 10"/>
          <p:cNvSpPr/>
          <p:nvPr/>
        </p:nvSpPr>
        <p:spPr>
          <a:xfrm>
            <a:off x="4743450" y="2390049"/>
            <a:ext cx="12700" cy="152400"/>
          </a:xfrm>
          <a:prstGeom prst="rect">
            <a:avLst/>
          </a:prstGeom>
          <a:solidFill>
            <a:srgbClr val="9AA3AB"/>
          </a:solidFill>
          <a:ln/>
        </p:spPr>
      </p:sp>
      <p:sp>
        <p:nvSpPr>
          <p:cNvPr id="13" name="Text 11"/>
          <p:cNvSpPr/>
          <p:nvPr/>
        </p:nvSpPr>
        <p:spPr>
          <a:xfrm>
            <a:off x="3511550" y="2548799"/>
            <a:ext cx="2476500" cy="439407"/>
          </a:xfrm>
          <a:prstGeom prst="roundRect">
            <a:avLst>
              <a:gd name="adj" fmla="val 15896"/>
            </a:avLst>
          </a:prstGeom>
          <a:solidFill>
            <a:srgbClr val="EDE8DF"/>
          </a:solidFill>
          <a:ln w="12700">
            <a:solidFill>
              <a:srgbClr val="1F2A33"/>
            </a:solidFill>
            <a:prstDash val="solid"/>
          </a:ln>
        </p:spPr>
        <p:txBody>
          <a:bodyPr wrap="square" lIns="53583" tIns="74792" rIns="53583" bIns="49392" rtlCol="0" anchor="t">
            <a:normAutofit/>
          </a:bodyPr>
          <a:lstStyle/>
          <a:p>
            <a:pPr algn="ctr" indent="0" marL="0">
              <a:lnSpc>
                <a:spcPts val="1960"/>
              </a:lnSpc>
              <a:buNone/>
            </a:pPr>
            <a:r>
              <a:rPr lang="en-US" sz="1400" b="1" dirty="0">
                <a:solidFill>
                  <a:srgbClr val="1F2A33"/>
                </a:solidFill>
                <a:latin typeface="Public Sans" pitchFamily="34" charset="0"/>
                <a:ea typeface="Public Sans" pitchFamily="34" charset="-122"/>
                <a:cs typeface="Public Sans" pitchFamily="34" charset="-120"/>
              </a:rPr>
              <a:t>Publications</a:t>
            </a:r>
            <a:endParaRPr lang="en-US" sz="1400" dirty="0"/>
          </a:p>
        </p:txBody>
      </p:sp>
      <p:sp>
        <p:nvSpPr>
          <p:cNvPr id="14" name="Text 12"/>
          <p:cNvSpPr/>
          <p:nvPr/>
        </p:nvSpPr>
        <p:spPr>
          <a:xfrm>
            <a:off x="3508375" y="3073930"/>
            <a:ext cx="2482850" cy="369094"/>
          </a:xfrm>
          <a:prstGeom prst="roundRect">
            <a:avLst>
              <a:gd name="adj" fmla="val 19785"/>
            </a:avLst>
          </a:prstGeom>
          <a:solidFill>
            <a:srgbClr val="FFFDF9"/>
          </a:solidFill>
          <a:ln w="6350">
            <a:solidFill>
              <a:srgbClr val="D9D2C5"/>
            </a:solidFill>
            <a:prstDash val="solid"/>
          </a:ln>
        </p:spPr>
        <p:txBody>
          <a:bodyPr wrap="square" lIns="81270" tIns="43170" rIns="12944" bIns="17770" rtlCol="0" anchor="t">
            <a:normAutofit/>
          </a:bodyPr>
          <a:lstStyle/>
          <a:p>
            <a:pPr algn="l" indent="0" marL="0">
              <a:lnSpc>
                <a:spcPts val="1890"/>
              </a:lnSpc>
              <a:buNone/>
            </a:pPr>
            <a:r>
              <a:rPr lang="en-US" sz="1400" dirty="0">
                <a:solidFill>
                  <a:srgbClr val="1F2A33"/>
                </a:solidFill>
                <a:latin typeface="Public Sans" pitchFamily="34" charset="0"/>
                <a:ea typeface="Public Sans" pitchFamily="34" charset="-122"/>
                <a:cs typeface="Public Sans" pitchFamily="34" charset="-120"/>
              </a:rPr>
              <a:t>Journal Articles</a:t>
            </a:r>
            <a:endParaRPr lang="en-US" sz="1400" dirty="0"/>
          </a:p>
        </p:txBody>
      </p:sp>
      <p:sp>
        <p:nvSpPr>
          <p:cNvPr id="15" name="Text 13"/>
          <p:cNvSpPr/>
          <p:nvPr/>
        </p:nvSpPr>
        <p:spPr>
          <a:xfrm>
            <a:off x="3508375" y="3525574"/>
            <a:ext cx="2482850" cy="369094"/>
          </a:xfrm>
          <a:prstGeom prst="roundRect">
            <a:avLst>
              <a:gd name="adj" fmla="val 19785"/>
            </a:avLst>
          </a:prstGeom>
          <a:solidFill>
            <a:srgbClr val="FFFDF9"/>
          </a:solidFill>
          <a:ln w="6350">
            <a:solidFill>
              <a:srgbClr val="D9D2C5"/>
            </a:solidFill>
            <a:prstDash val="solid"/>
          </a:ln>
        </p:spPr>
        <p:txBody>
          <a:bodyPr wrap="square" lIns="81270" tIns="43170" rIns="12944" bIns="17770" rtlCol="0" anchor="t">
            <a:normAutofit/>
          </a:bodyPr>
          <a:lstStyle/>
          <a:p>
            <a:pPr algn="l" indent="0" marL="0">
              <a:lnSpc>
                <a:spcPts val="1890"/>
              </a:lnSpc>
              <a:buNone/>
            </a:pPr>
            <a:r>
              <a:rPr lang="en-US" sz="1400" dirty="0">
                <a:solidFill>
                  <a:srgbClr val="1F2A33"/>
                </a:solidFill>
                <a:latin typeface="Public Sans" pitchFamily="34" charset="0"/>
                <a:ea typeface="Public Sans" pitchFamily="34" charset="-122"/>
                <a:cs typeface="Public Sans" pitchFamily="34" charset="-120"/>
              </a:rPr>
              <a:t>Research Posters</a:t>
            </a:r>
            <a:endParaRPr lang="en-US" sz="1400" dirty="0"/>
          </a:p>
        </p:txBody>
      </p:sp>
      <p:sp>
        <p:nvSpPr>
          <p:cNvPr id="16" name="Shape 14"/>
          <p:cNvSpPr/>
          <p:nvPr/>
        </p:nvSpPr>
        <p:spPr>
          <a:xfrm>
            <a:off x="7435850" y="2390049"/>
            <a:ext cx="12700" cy="152400"/>
          </a:xfrm>
          <a:prstGeom prst="rect">
            <a:avLst/>
          </a:prstGeom>
          <a:solidFill>
            <a:srgbClr val="9AA3AB"/>
          </a:solidFill>
          <a:ln/>
        </p:spPr>
      </p:sp>
      <p:sp>
        <p:nvSpPr>
          <p:cNvPr id="17" name="Text 15"/>
          <p:cNvSpPr/>
          <p:nvPr/>
        </p:nvSpPr>
        <p:spPr>
          <a:xfrm>
            <a:off x="6203950" y="2548799"/>
            <a:ext cx="2476500" cy="439407"/>
          </a:xfrm>
          <a:prstGeom prst="roundRect">
            <a:avLst>
              <a:gd name="adj" fmla="val 15896"/>
            </a:avLst>
          </a:prstGeom>
          <a:solidFill>
            <a:srgbClr val="EDE8DF"/>
          </a:solidFill>
          <a:ln w="12700">
            <a:solidFill>
              <a:srgbClr val="1F2A33"/>
            </a:solidFill>
            <a:prstDash val="solid"/>
          </a:ln>
        </p:spPr>
        <p:txBody>
          <a:bodyPr wrap="square" lIns="53583" tIns="74792" rIns="53583" bIns="49392" rtlCol="0" anchor="t">
            <a:normAutofit/>
          </a:bodyPr>
          <a:lstStyle/>
          <a:p>
            <a:pPr algn="ctr" indent="0" marL="0">
              <a:lnSpc>
                <a:spcPts val="1960"/>
              </a:lnSpc>
              <a:buNone/>
            </a:pPr>
            <a:r>
              <a:rPr lang="en-US" sz="1400" b="1" dirty="0">
                <a:solidFill>
                  <a:srgbClr val="1F2A33"/>
                </a:solidFill>
                <a:latin typeface="Public Sans" pitchFamily="34" charset="0"/>
                <a:ea typeface="Public Sans" pitchFamily="34" charset="-122"/>
                <a:cs typeface="Public Sans" pitchFamily="34" charset="-120"/>
              </a:rPr>
              <a:t>Updates</a:t>
            </a:r>
            <a:endParaRPr lang="en-US" sz="1400" dirty="0"/>
          </a:p>
        </p:txBody>
      </p:sp>
      <p:sp>
        <p:nvSpPr>
          <p:cNvPr id="18" name="Text 16"/>
          <p:cNvSpPr/>
          <p:nvPr/>
        </p:nvSpPr>
        <p:spPr>
          <a:xfrm>
            <a:off x="6200775" y="3073930"/>
            <a:ext cx="2482850" cy="369094"/>
          </a:xfrm>
          <a:prstGeom prst="roundRect">
            <a:avLst>
              <a:gd name="adj" fmla="val 19785"/>
            </a:avLst>
          </a:prstGeom>
          <a:solidFill>
            <a:srgbClr val="FFFDF9"/>
          </a:solidFill>
          <a:ln w="6350">
            <a:solidFill>
              <a:srgbClr val="D9D2C5"/>
            </a:solidFill>
            <a:prstDash val="solid"/>
          </a:ln>
        </p:spPr>
        <p:txBody>
          <a:bodyPr wrap="square" lIns="81270" tIns="43170" rIns="12944" bIns="17770" rtlCol="0" anchor="t">
            <a:normAutofit/>
          </a:bodyPr>
          <a:lstStyle/>
          <a:p>
            <a:pPr algn="l" indent="0" marL="0">
              <a:lnSpc>
                <a:spcPts val="1890"/>
              </a:lnSpc>
              <a:buNone/>
            </a:pPr>
            <a:r>
              <a:rPr lang="en-US" sz="1400" dirty="0">
                <a:solidFill>
                  <a:srgbClr val="1F2A33"/>
                </a:solidFill>
                <a:latin typeface="Public Sans" pitchFamily="34" charset="0"/>
                <a:ea typeface="Public Sans" pitchFamily="34" charset="-122"/>
                <a:cs typeface="Public Sans" pitchFamily="34" charset="-120"/>
              </a:rPr>
              <a:t>Blog</a:t>
            </a:r>
            <a:endParaRPr lang="en-US" sz="1400" dirty="0"/>
          </a:p>
        </p:txBody>
      </p:sp>
      <p:sp>
        <p:nvSpPr>
          <p:cNvPr id="19" name="Shape 17"/>
          <p:cNvSpPr/>
          <p:nvPr/>
        </p:nvSpPr>
        <p:spPr>
          <a:xfrm>
            <a:off x="10128250" y="2390049"/>
            <a:ext cx="12700" cy="152400"/>
          </a:xfrm>
          <a:prstGeom prst="rect">
            <a:avLst/>
          </a:prstGeom>
          <a:solidFill>
            <a:srgbClr val="9AA3AB"/>
          </a:solidFill>
          <a:ln/>
        </p:spPr>
      </p:sp>
      <p:sp>
        <p:nvSpPr>
          <p:cNvPr id="20" name="Text 18"/>
          <p:cNvSpPr/>
          <p:nvPr/>
        </p:nvSpPr>
        <p:spPr>
          <a:xfrm>
            <a:off x="8896350" y="2548799"/>
            <a:ext cx="2476500" cy="439407"/>
          </a:xfrm>
          <a:prstGeom prst="roundRect">
            <a:avLst>
              <a:gd name="adj" fmla="val 15896"/>
            </a:avLst>
          </a:prstGeom>
          <a:solidFill>
            <a:srgbClr val="EDE8DF"/>
          </a:solidFill>
          <a:ln w="12700">
            <a:solidFill>
              <a:srgbClr val="1F2A33"/>
            </a:solidFill>
            <a:prstDash val="solid"/>
          </a:ln>
        </p:spPr>
        <p:txBody>
          <a:bodyPr wrap="square" lIns="53583" tIns="74792" rIns="53583" bIns="49392" rtlCol="0" anchor="t">
            <a:normAutofit/>
          </a:bodyPr>
          <a:lstStyle/>
          <a:p>
            <a:pPr algn="ctr" indent="0" marL="0">
              <a:lnSpc>
                <a:spcPts val="1960"/>
              </a:lnSpc>
              <a:buNone/>
            </a:pPr>
            <a:r>
              <a:rPr lang="en-US" sz="1400" b="1" dirty="0">
                <a:solidFill>
                  <a:srgbClr val="1F2A33"/>
                </a:solidFill>
                <a:latin typeface="Public Sans" pitchFamily="34" charset="0"/>
                <a:ea typeface="Public Sans" pitchFamily="34" charset="-122"/>
                <a:cs typeface="Public Sans" pitchFamily="34" charset="-120"/>
              </a:rPr>
              <a:t>Related Sites</a:t>
            </a:r>
            <a:endParaRPr lang="en-US" sz="1400" dirty="0"/>
          </a:p>
        </p:txBody>
      </p:sp>
      <p:sp>
        <p:nvSpPr>
          <p:cNvPr id="21" name="Text 19"/>
          <p:cNvSpPr/>
          <p:nvPr/>
        </p:nvSpPr>
        <p:spPr>
          <a:xfrm>
            <a:off x="8896350" y="3077105"/>
            <a:ext cx="2476500" cy="379677"/>
          </a:xfrm>
          <a:prstGeom prst="roundRect">
            <a:avLst>
              <a:gd name="adj" fmla="val 18397"/>
            </a:avLst>
          </a:prstGeom>
          <a:solidFill>
            <a:srgbClr val="FFFDF9"/>
          </a:solidFill>
          <a:ln w="12700">
            <a:solidFill>
              <a:srgbClr val="9AA3AB"/>
            </a:solidFill>
            <a:prstDash val="dash"/>
          </a:ln>
        </p:spPr>
        <p:txBody>
          <a:bodyPr wrap="square" lIns="87492" tIns="49392" rIns="19674" bIns="23992" rtlCol="0" anchor="t">
            <a:normAutofit/>
          </a:bodyPr>
          <a:lstStyle/>
          <a:p>
            <a:pPr algn="l" indent="0" marL="0">
              <a:lnSpc>
                <a:spcPts val="1890"/>
              </a:lnSpc>
              <a:buNone/>
            </a:pPr>
            <a:r>
              <a:rPr lang="en-US" sz="1400" dirty="0">
                <a:solidFill>
                  <a:srgbClr val="1F2A33"/>
                </a:solidFill>
                <a:latin typeface="Public Sans" pitchFamily="34" charset="0"/>
                <a:ea typeface="Public Sans" pitchFamily="34" charset="-122"/>
                <a:cs typeface="Public Sans" pitchFamily="34" charset="-120"/>
              </a:rPr>
              <a:t>APSS Main Website ↗</a:t>
            </a:r>
            <a:endParaRPr lang="en-US" sz="1400" dirty="0"/>
          </a:p>
        </p:txBody>
      </p:sp>
      <p:sp>
        <p:nvSpPr>
          <p:cNvPr id="22" name="Text 20"/>
          <p:cNvSpPr/>
          <p:nvPr/>
        </p:nvSpPr>
        <p:spPr>
          <a:xfrm>
            <a:off x="8896350" y="3545681"/>
            <a:ext cx="2476500" cy="379677"/>
          </a:xfrm>
          <a:prstGeom prst="roundRect">
            <a:avLst>
              <a:gd name="adj" fmla="val 18397"/>
            </a:avLst>
          </a:prstGeom>
          <a:solidFill>
            <a:srgbClr val="FFFDF9"/>
          </a:solidFill>
          <a:ln w="12700">
            <a:solidFill>
              <a:srgbClr val="9AA3AB"/>
            </a:solidFill>
            <a:prstDash val="dash"/>
          </a:ln>
        </p:spPr>
        <p:txBody>
          <a:bodyPr wrap="square" lIns="87492" tIns="49392" rIns="19674" bIns="23992" rtlCol="0" anchor="t">
            <a:normAutofit/>
          </a:bodyPr>
          <a:lstStyle/>
          <a:p>
            <a:pPr algn="l" indent="0" marL="0">
              <a:lnSpc>
                <a:spcPts val="1890"/>
              </a:lnSpc>
              <a:buNone/>
            </a:pPr>
            <a:r>
              <a:rPr lang="en-US" sz="1400" dirty="0">
                <a:solidFill>
                  <a:srgbClr val="1F2A33"/>
                </a:solidFill>
                <a:latin typeface="Public Sans" pitchFamily="34" charset="0"/>
                <a:ea typeface="Public Sans" pitchFamily="34" charset="-122"/>
                <a:cs typeface="Public Sans" pitchFamily="34" charset="-120"/>
              </a:rPr>
              <a:t>reportneedles.ca ↗</a:t>
            </a:r>
            <a:endParaRPr lang="en-US" sz="1400" dirty="0"/>
          </a:p>
        </p:txBody>
      </p:sp>
      <p:sp>
        <p:nvSpPr>
          <p:cNvPr id="23" name="Text 21"/>
          <p:cNvSpPr/>
          <p:nvPr/>
        </p:nvSpPr>
        <p:spPr>
          <a:xfrm>
            <a:off x="812800" y="4792663"/>
            <a:ext cx="5964936" cy="523214"/>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4A5560"/>
                </a:solidFill>
                <a:latin typeface="Public Sans" pitchFamily="34" charset="0"/>
                <a:ea typeface="Public Sans" pitchFamily="34" charset="-122"/>
                <a:cs typeface="Public Sans" pitchFamily="34" charset="-120"/>
              </a:rPr>
              <a:t>Footer on every page:</a:t>
            </a:r>
            <a:r>
              <a:rPr lang="en-US" sz="1400" dirty="0">
                <a:solidFill>
                  <a:srgbClr val="4A5560"/>
                </a:solidFill>
                <a:latin typeface="Public Sans" pitchFamily="34" charset="0"/>
                <a:ea typeface="Public Sans" pitchFamily="34" charset="-122"/>
                <a:cs typeface="Public Sans" pitchFamily="34" charset="-120"/>
              </a:rPr>
              <a:t> Contact information · Privacy / Terms · Acknowledgements</a:t>
            </a:r>
            <a:endParaRPr lang="en-US" sz="1400" dirty="0"/>
          </a:p>
        </p:txBody>
      </p:sp>
      <p:sp>
        <p:nvSpPr>
          <p:cNvPr id="24" name="Shape 22"/>
          <p:cNvSpPr/>
          <p:nvPr/>
        </p:nvSpPr>
        <p:spPr>
          <a:xfrm>
            <a:off x="6807200" y="4815483"/>
            <a:ext cx="4572000" cy="452107"/>
          </a:xfrm>
          <a:prstGeom prst="roundRect">
            <a:avLst>
              <a:gd name="adj" fmla="val 22473"/>
            </a:avLst>
          </a:prstGeom>
          <a:solidFill>
            <a:srgbClr val="DCEFEA"/>
          </a:solidFill>
          <a:ln/>
        </p:spPr>
      </p:sp>
      <p:pic>
        <p:nvPicPr>
          <p:cNvPr id="25" name="Image 0" descr="Chat">    </p:cNvPr>
          <p:cNvPicPr>
            <a:picLocks noChangeAspect="1"/>
          </p:cNvPicPr>
          <p:nvPr/>
        </p:nvPicPr>
        <p:blipFill>
          <a:blip r:embed="rId1"/>
          <a:srcRect l="0" r="0" t="0" b="0"/>
          <a:stretch/>
        </p:blipFill>
        <p:spPr>
          <a:xfrm>
            <a:off x="6985000" y="4927203"/>
            <a:ext cx="228600" cy="228600"/>
          </a:xfrm>
          <a:prstGeom prst="rect">
            <a:avLst/>
          </a:prstGeom>
        </p:spPr>
      </p:pic>
      <p:sp>
        <p:nvSpPr>
          <p:cNvPr id="26" name="Text 23"/>
          <p:cNvSpPr/>
          <p:nvPr/>
        </p:nvSpPr>
        <p:spPr>
          <a:xfrm>
            <a:off x="7340600" y="4917083"/>
            <a:ext cx="4038600" cy="27430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1181D"/>
                </a:solidFill>
                <a:latin typeface="Public Sans" pitchFamily="34" charset="0"/>
                <a:ea typeface="Public Sans" pitchFamily="34" charset="-122"/>
                <a:cs typeface="Public Sans" pitchFamily="34" charset="-120"/>
              </a:rPr>
              <a:t>Do these labels make sense to your visitors?</a:t>
            </a:r>
            <a:endParaRPr lang="en-US" sz="1400" dirty="0"/>
          </a:p>
        </p:txBody>
      </p:sp>
      <p:sp>
        <p:nvSpPr>
          <p:cNvPr id="27" name="Text 24"/>
          <p:cNvSpPr/>
          <p:nvPr/>
        </p:nvSpPr>
        <p:spPr>
          <a:xfrm>
            <a:off x="812800" y="6238280"/>
            <a:ext cx="390183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872"/>
                </a:solidFill>
                <a:latin typeface="Public Sans" pitchFamily="34" charset="0"/>
                <a:ea typeface="Public Sans" pitchFamily="34" charset="-122"/>
                <a:cs typeface="Public Sans" pitchFamily="34" charset="-120"/>
              </a:rPr>
              <a:t>APSS Research Website · Customer check-in 1</a:t>
            </a:r>
            <a:endParaRPr lang="en-US" sz="1200" dirty="0"/>
          </a:p>
        </p:txBody>
      </p:sp>
      <p:sp>
        <p:nvSpPr>
          <p:cNvPr id="28" name="Text 25"/>
          <p:cNvSpPr/>
          <p:nvPr/>
        </p:nvSpPr>
        <p:spPr>
          <a:xfrm>
            <a:off x="11233481" y="6238280"/>
            <a:ext cx="14571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872"/>
                </a:solidFill>
                <a:latin typeface="Public Sans" pitchFamily="34" charset="0"/>
                <a:ea typeface="Public Sans" pitchFamily="34" charset="-122"/>
                <a:cs typeface="Public Sans" pitchFamily="34" charset="-120"/>
              </a:rPr>
              <a:t>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6238280"/>
            <a:ext cx="390183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872"/>
                </a:solidFill>
                <a:latin typeface="Public Sans" pitchFamily="34" charset="0"/>
                <a:ea typeface="Public Sans" pitchFamily="34" charset="-122"/>
                <a:cs typeface="Public Sans" pitchFamily="34" charset="-120"/>
              </a:rPr>
              <a:t>APSS Research Website · Customer check-in 1</a:t>
            </a:r>
            <a:endParaRPr lang="en-US" sz="1200" dirty="0"/>
          </a:p>
        </p:txBody>
      </p:sp>
      <p:sp>
        <p:nvSpPr>
          <p:cNvPr id="3" name="Text 1"/>
          <p:cNvSpPr/>
          <p:nvPr/>
        </p:nvSpPr>
        <p:spPr>
          <a:xfrm>
            <a:off x="11236854" y="6238280"/>
            <a:ext cx="142346"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872"/>
                </a:solidFill>
                <a:latin typeface="Public Sans" pitchFamily="34" charset="0"/>
                <a:ea typeface="Public Sans" pitchFamily="34" charset="-122"/>
                <a:cs typeface="Public Sans" pitchFamily="34" charset="-120"/>
              </a:rPr>
              <a:t>7</a:t>
            </a:r>
            <a:endParaRPr lang="en-US" sz="1200" dirty="0"/>
          </a:p>
        </p:txBody>
      </p:sp>
      <p:sp>
        <p:nvSpPr>
          <p:cNvPr id="4" name="Text 2"/>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F6E6E"/>
                </a:solidFill>
                <a:latin typeface="Public Sans" pitchFamily="34" charset="0"/>
                <a:ea typeface="Public Sans" pitchFamily="34" charset="-122"/>
                <a:cs typeface="Public Sans" pitchFamily="34" charset="-120"/>
              </a:rPr>
              <a:t>SITE MAP · OPTION B</a:t>
            </a:r>
            <a:endParaRPr lang="en-US" sz="1200" dirty="0"/>
          </a:p>
        </p:txBody>
      </p:sp>
      <p:sp>
        <p:nvSpPr>
          <p:cNvPr id="5" name="Text 3"/>
          <p:cNvSpPr/>
          <p:nvPr>
            <p:ph type="title"/>
          </p:nvPr>
        </p:nvSpPr>
        <p:spPr>
          <a:xfrm>
            <a:off x="812800" y="11277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F2A33"/>
                </a:solidFill>
                <a:latin typeface="Source Serif 4" pitchFamily="18" charset="0"/>
                <a:ea typeface="Source Serif 4" pitchFamily="18" charset="-122"/>
                <a:cs typeface="Source Serif 4" pitchFamily="18" charset="-120"/>
              </a:rPr>
              <a:t>Option B: an expanded structure</a:t>
            </a:r>
            <a:endParaRPr lang="en-US" sz="3200" dirty="0"/>
          </a:p>
        </p:txBody>
      </p:sp>
      <p:sp>
        <p:nvSpPr>
          <p:cNvPr id="6" name="Text 4"/>
          <p:cNvSpPr/>
          <p:nvPr/>
        </p:nvSpPr>
        <p:spPr>
          <a:xfrm>
            <a:off x="5541897" y="1746250"/>
            <a:ext cx="1108141" cy="375907"/>
          </a:xfrm>
          <a:prstGeom prst="roundRect">
            <a:avLst>
              <a:gd name="adj" fmla="val 50000"/>
            </a:avLst>
          </a:prstGeom>
          <a:solidFill>
            <a:srgbClr val="0E2F33"/>
          </a:solidFill>
          <a:ln/>
        </p:spPr>
        <p:txBody>
          <a:bodyPr wrap="none" lIns="0" tIns="0" rIns="0" bIns="0" rtlCol="0" anchor="ctr">
            <a:normAutofit/>
          </a:bodyPr>
          <a:lstStyle/>
          <a:p>
            <a:pPr algn="ctr" indent="0" marL="0">
              <a:lnSpc>
                <a:spcPts val="1960"/>
              </a:lnSpc>
              <a:buNone/>
            </a:pPr>
            <a:r>
              <a:rPr lang="en-US" sz="1400" b="1" dirty="0">
                <a:solidFill>
                  <a:srgbClr val="F7F5F0"/>
                </a:solidFill>
                <a:latin typeface="Public Sans" pitchFamily="34" charset="0"/>
                <a:ea typeface="Public Sans" pitchFamily="34" charset="-122"/>
                <a:cs typeface="Public Sans" pitchFamily="34" charset="-120"/>
              </a:rPr>
              <a:t>Home</a:t>
            </a:r>
            <a:endParaRPr lang="en-US" sz="1400" dirty="0"/>
          </a:p>
        </p:txBody>
      </p:sp>
      <p:sp>
        <p:nvSpPr>
          <p:cNvPr id="7" name="Shape 5"/>
          <p:cNvSpPr/>
          <p:nvPr/>
        </p:nvSpPr>
        <p:spPr>
          <a:xfrm>
            <a:off x="6089650" y="2122159"/>
            <a:ext cx="12700" cy="101600"/>
          </a:xfrm>
          <a:prstGeom prst="rect">
            <a:avLst/>
          </a:prstGeom>
          <a:solidFill>
            <a:srgbClr val="9AA3AB"/>
          </a:solidFill>
          <a:ln/>
        </p:spPr>
      </p:sp>
      <p:sp>
        <p:nvSpPr>
          <p:cNvPr id="8" name="Shape 6"/>
          <p:cNvSpPr/>
          <p:nvPr/>
        </p:nvSpPr>
        <p:spPr>
          <a:xfrm>
            <a:off x="1628775" y="2223759"/>
            <a:ext cx="8934450" cy="12700"/>
          </a:xfrm>
          <a:prstGeom prst="rect">
            <a:avLst/>
          </a:prstGeom>
          <a:solidFill>
            <a:srgbClr val="9AA3AB"/>
          </a:solidFill>
          <a:ln/>
        </p:spPr>
      </p:sp>
      <p:sp>
        <p:nvSpPr>
          <p:cNvPr id="9" name="Shape 7"/>
          <p:cNvSpPr/>
          <p:nvPr/>
        </p:nvSpPr>
        <p:spPr>
          <a:xfrm>
            <a:off x="1623483" y="2236459"/>
            <a:ext cx="12700" cy="101600"/>
          </a:xfrm>
          <a:prstGeom prst="rect">
            <a:avLst/>
          </a:prstGeom>
          <a:solidFill>
            <a:srgbClr val="9AA3AB"/>
          </a:solidFill>
          <a:ln/>
        </p:spPr>
      </p:sp>
      <p:sp>
        <p:nvSpPr>
          <p:cNvPr id="10" name="Text 8"/>
          <p:cNvSpPr/>
          <p:nvPr/>
        </p:nvSpPr>
        <p:spPr>
          <a:xfrm>
            <a:off x="819150" y="2344409"/>
            <a:ext cx="1621367" cy="520700"/>
          </a:xfrm>
          <a:prstGeom prst="roundRect">
            <a:avLst>
              <a:gd name="adj" fmla="val 13415"/>
            </a:avLst>
          </a:prstGeom>
          <a:solidFill>
            <a:srgbClr val="EDE8DF"/>
          </a:solidFill>
          <a:ln w="12700">
            <a:solidFill>
              <a:srgbClr val="1F2A33"/>
            </a:solidFill>
            <a:prstDash val="solid"/>
          </a:ln>
        </p:spPr>
        <p:txBody>
          <a:bodyPr wrap="square" lIns="36692" tIns="36692" rIns="36692" bIns="36692" rtlCol="0" anchor="ctr">
            <a:normAutofit/>
          </a:bodyPr>
          <a:lstStyle/>
          <a:p>
            <a:pPr algn="ctr" indent="0" marL="0">
              <a:lnSpc>
                <a:spcPts val="1440"/>
              </a:lnSpc>
              <a:buNone/>
            </a:pPr>
            <a:r>
              <a:rPr lang="en-US" sz="1200" b="1" dirty="0">
                <a:solidFill>
                  <a:srgbClr val="1F2A33"/>
                </a:solidFill>
                <a:latin typeface="Public Sans" pitchFamily="34" charset="0"/>
                <a:ea typeface="Public Sans" pitchFamily="34" charset="-122"/>
                <a:cs typeface="Public Sans" pitchFamily="34" charset="-120"/>
              </a:rPr>
              <a:t>About</a:t>
            </a:r>
            <a:endParaRPr lang="en-US" sz="1200" dirty="0"/>
          </a:p>
        </p:txBody>
      </p:sp>
      <p:sp>
        <p:nvSpPr>
          <p:cNvPr id="11" name="Text 9"/>
          <p:cNvSpPr/>
          <p:nvPr/>
        </p:nvSpPr>
        <p:spPr>
          <a:xfrm>
            <a:off x="815975" y="2925434"/>
            <a:ext cx="1627717" cy="301823"/>
          </a:xfrm>
          <a:prstGeom prst="roundRect">
            <a:avLst>
              <a:gd name="adj" fmla="val 19987"/>
            </a:avLst>
          </a:prstGeom>
          <a:solidFill>
            <a:srgbClr val="FFFDF9"/>
          </a:solidFill>
          <a:ln w="6350">
            <a:solidFill>
              <a:srgbClr val="D9D2C5"/>
            </a:solidFill>
            <a:prstDash val="solid"/>
          </a:ln>
        </p:spPr>
        <p:txBody>
          <a:bodyPr wrap="square" lIns="59590" tIns="34190" rIns="8790" bIns="8790" rtlCol="0" anchor="t">
            <a:normAutofit/>
          </a:bodyPr>
          <a:lstStyle/>
          <a:p>
            <a:pPr algn="l" indent="0" marL="0">
              <a:lnSpc>
                <a:spcPts val="1560"/>
              </a:lnSpc>
              <a:buNone/>
            </a:pPr>
            <a:r>
              <a:rPr lang="en-US" sz="1200" dirty="0">
                <a:solidFill>
                  <a:srgbClr val="1F2A33"/>
                </a:solidFill>
                <a:latin typeface="Public Sans" pitchFamily="34" charset="0"/>
                <a:ea typeface="Public Sans" pitchFamily="34" charset="-122"/>
                <a:cs typeface="Public Sans" pitchFamily="34" charset="-120"/>
              </a:rPr>
              <a:t>Overview</a:t>
            </a:r>
            <a:endParaRPr lang="en-US" sz="1200" dirty="0"/>
          </a:p>
        </p:txBody>
      </p:sp>
      <p:sp>
        <p:nvSpPr>
          <p:cNvPr id="12" name="Text 10"/>
          <p:cNvSpPr/>
          <p:nvPr/>
        </p:nvSpPr>
        <p:spPr>
          <a:xfrm>
            <a:off x="815975" y="3284407"/>
            <a:ext cx="1627717" cy="301823"/>
          </a:xfrm>
          <a:prstGeom prst="roundRect">
            <a:avLst>
              <a:gd name="adj" fmla="val 19987"/>
            </a:avLst>
          </a:prstGeom>
          <a:solidFill>
            <a:srgbClr val="FFFDF9"/>
          </a:solidFill>
          <a:ln w="6350">
            <a:solidFill>
              <a:srgbClr val="D9D2C5"/>
            </a:solidFill>
            <a:prstDash val="solid"/>
          </a:ln>
        </p:spPr>
        <p:txBody>
          <a:bodyPr wrap="square" lIns="59590" tIns="34190" rIns="8790" bIns="8790" rtlCol="0" anchor="t">
            <a:normAutofit/>
          </a:bodyPr>
          <a:lstStyle/>
          <a:p>
            <a:pPr algn="l" indent="0" marL="0">
              <a:lnSpc>
                <a:spcPts val="1560"/>
              </a:lnSpc>
              <a:buNone/>
            </a:pPr>
            <a:r>
              <a:rPr lang="en-US" sz="1200" dirty="0">
                <a:solidFill>
                  <a:srgbClr val="1F2A33"/>
                </a:solidFill>
                <a:latin typeface="Public Sans" pitchFamily="34" charset="0"/>
                <a:ea typeface="Public Sans" pitchFamily="34" charset="-122"/>
                <a:cs typeface="Public Sans" pitchFamily="34" charset="-120"/>
              </a:rPr>
              <a:t>Our Team</a:t>
            </a:r>
            <a:endParaRPr lang="en-US" sz="1200" dirty="0"/>
          </a:p>
        </p:txBody>
      </p:sp>
      <p:sp>
        <p:nvSpPr>
          <p:cNvPr id="13" name="Text 11"/>
          <p:cNvSpPr/>
          <p:nvPr/>
        </p:nvSpPr>
        <p:spPr>
          <a:xfrm>
            <a:off x="815975" y="3643381"/>
            <a:ext cx="1627717" cy="301823"/>
          </a:xfrm>
          <a:prstGeom prst="roundRect">
            <a:avLst>
              <a:gd name="adj" fmla="val 19987"/>
            </a:avLst>
          </a:prstGeom>
          <a:solidFill>
            <a:srgbClr val="FFFDF9"/>
          </a:solidFill>
          <a:ln w="6350">
            <a:solidFill>
              <a:srgbClr val="D9D2C5"/>
            </a:solidFill>
            <a:prstDash val="solid"/>
          </a:ln>
        </p:spPr>
        <p:txBody>
          <a:bodyPr wrap="square" lIns="59590" tIns="34190" rIns="8790" bIns="8790" rtlCol="0" anchor="t">
            <a:normAutofit/>
          </a:bodyPr>
          <a:lstStyle/>
          <a:p>
            <a:pPr algn="l" indent="0" marL="0">
              <a:lnSpc>
                <a:spcPts val="1560"/>
              </a:lnSpc>
              <a:buNone/>
            </a:pPr>
            <a:r>
              <a:rPr lang="en-US" sz="1200" dirty="0">
                <a:solidFill>
                  <a:srgbClr val="1F2A33"/>
                </a:solidFill>
                <a:latin typeface="Public Sans" pitchFamily="34" charset="0"/>
                <a:ea typeface="Public Sans" pitchFamily="34" charset="-122"/>
                <a:cs typeface="Public Sans" pitchFamily="34" charset="-120"/>
              </a:rPr>
              <a:t>Our Partners</a:t>
            </a:r>
            <a:endParaRPr lang="en-US" sz="1200" dirty="0"/>
          </a:p>
        </p:txBody>
      </p:sp>
      <p:sp>
        <p:nvSpPr>
          <p:cNvPr id="14" name="Text 12"/>
          <p:cNvSpPr/>
          <p:nvPr/>
        </p:nvSpPr>
        <p:spPr>
          <a:xfrm>
            <a:off x="815975" y="4002354"/>
            <a:ext cx="1627717" cy="301823"/>
          </a:xfrm>
          <a:prstGeom prst="roundRect">
            <a:avLst>
              <a:gd name="adj" fmla="val 19987"/>
            </a:avLst>
          </a:prstGeom>
          <a:solidFill>
            <a:srgbClr val="FFFDF9"/>
          </a:solidFill>
          <a:ln w="6350">
            <a:solidFill>
              <a:srgbClr val="D9D2C5"/>
            </a:solidFill>
            <a:prstDash val="solid"/>
          </a:ln>
        </p:spPr>
        <p:txBody>
          <a:bodyPr wrap="square" lIns="59590" tIns="34190" rIns="8790" bIns="8790" rtlCol="0" anchor="t">
            <a:normAutofit/>
          </a:bodyPr>
          <a:lstStyle/>
          <a:p>
            <a:pPr algn="l" indent="0" marL="0">
              <a:lnSpc>
                <a:spcPts val="1560"/>
              </a:lnSpc>
              <a:buNone/>
            </a:pPr>
            <a:r>
              <a:rPr lang="en-US" sz="1200" dirty="0">
                <a:solidFill>
                  <a:srgbClr val="1F2A33"/>
                </a:solidFill>
                <a:latin typeface="Public Sans" pitchFamily="34" charset="0"/>
                <a:ea typeface="Public Sans" pitchFamily="34" charset="-122"/>
                <a:cs typeface="Public Sans" pitchFamily="34" charset="-120"/>
              </a:rPr>
              <a:t>Contact</a:t>
            </a:r>
            <a:endParaRPr lang="en-US" sz="1200" dirty="0"/>
          </a:p>
        </p:txBody>
      </p:sp>
      <p:sp>
        <p:nvSpPr>
          <p:cNvPr id="15" name="Shape 13"/>
          <p:cNvSpPr/>
          <p:nvPr/>
        </p:nvSpPr>
        <p:spPr>
          <a:xfrm>
            <a:off x="3409950" y="2236459"/>
            <a:ext cx="12700" cy="101600"/>
          </a:xfrm>
          <a:prstGeom prst="rect">
            <a:avLst/>
          </a:prstGeom>
          <a:solidFill>
            <a:srgbClr val="9AA3AB"/>
          </a:solidFill>
          <a:ln/>
        </p:spPr>
      </p:sp>
      <p:sp>
        <p:nvSpPr>
          <p:cNvPr id="16" name="Text 14"/>
          <p:cNvSpPr/>
          <p:nvPr/>
        </p:nvSpPr>
        <p:spPr>
          <a:xfrm>
            <a:off x="2605617" y="2344409"/>
            <a:ext cx="1621367" cy="520700"/>
          </a:xfrm>
          <a:prstGeom prst="roundRect">
            <a:avLst>
              <a:gd name="adj" fmla="val 13415"/>
            </a:avLst>
          </a:prstGeom>
          <a:solidFill>
            <a:srgbClr val="EDE8DF"/>
          </a:solidFill>
          <a:ln w="12700">
            <a:solidFill>
              <a:srgbClr val="1F2A33"/>
            </a:solidFill>
            <a:prstDash val="solid"/>
          </a:ln>
        </p:spPr>
        <p:txBody>
          <a:bodyPr wrap="square" lIns="36692" tIns="36692" rIns="36692" bIns="36692" rtlCol="0" anchor="ctr">
            <a:normAutofit/>
          </a:bodyPr>
          <a:lstStyle/>
          <a:p>
            <a:pPr algn="ctr" indent="0" marL="0">
              <a:lnSpc>
                <a:spcPts val="1440"/>
              </a:lnSpc>
              <a:buNone/>
            </a:pPr>
            <a:r>
              <a:rPr lang="en-US" sz="1200" b="1" dirty="0">
                <a:solidFill>
                  <a:srgbClr val="1F2A33"/>
                </a:solidFill>
                <a:latin typeface="Public Sans" pitchFamily="34" charset="0"/>
                <a:ea typeface="Public Sans" pitchFamily="34" charset="-122"/>
                <a:cs typeface="Public Sans" pitchFamily="34" charset="-120"/>
              </a:rPr>
              <a:t>Research Projects</a:t>
            </a:r>
            <a:endParaRPr lang="en-US" sz="1200" dirty="0"/>
          </a:p>
        </p:txBody>
      </p:sp>
      <p:sp>
        <p:nvSpPr>
          <p:cNvPr id="17" name="Text 15"/>
          <p:cNvSpPr/>
          <p:nvPr/>
        </p:nvSpPr>
        <p:spPr>
          <a:xfrm>
            <a:off x="2602442" y="2925434"/>
            <a:ext cx="1627717" cy="301823"/>
          </a:xfrm>
          <a:prstGeom prst="roundRect">
            <a:avLst>
              <a:gd name="adj" fmla="val 19987"/>
            </a:avLst>
          </a:prstGeom>
          <a:solidFill>
            <a:srgbClr val="FFFDF9"/>
          </a:solidFill>
          <a:ln w="6350">
            <a:solidFill>
              <a:srgbClr val="D9D2C5"/>
            </a:solidFill>
            <a:prstDash val="solid"/>
          </a:ln>
        </p:spPr>
        <p:txBody>
          <a:bodyPr wrap="square" lIns="59590" tIns="34190" rIns="8790" bIns="8790" rtlCol="0" anchor="t">
            <a:normAutofit/>
          </a:bodyPr>
          <a:lstStyle/>
          <a:p>
            <a:pPr algn="l" indent="0" marL="0">
              <a:lnSpc>
                <a:spcPts val="1560"/>
              </a:lnSpc>
              <a:buNone/>
            </a:pPr>
            <a:r>
              <a:rPr lang="en-US" sz="1200" dirty="0">
                <a:solidFill>
                  <a:srgbClr val="1F2A33"/>
                </a:solidFill>
                <a:latin typeface="Public Sans" pitchFamily="34" charset="0"/>
                <a:ea typeface="Public Sans" pitchFamily="34" charset="-122"/>
                <a:cs typeface="Public Sans" pitchFamily="34" charset="-120"/>
              </a:rPr>
              <a:t>Current Projects</a:t>
            </a:r>
            <a:endParaRPr lang="en-US" sz="1200" dirty="0"/>
          </a:p>
        </p:txBody>
      </p:sp>
      <p:sp>
        <p:nvSpPr>
          <p:cNvPr id="18" name="Text 16"/>
          <p:cNvSpPr/>
          <p:nvPr/>
        </p:nvSpPr>
        <p:spPr>
          <a:xfrm>
            <a:off x="2602442" y="3284407"/>
            <a:ext cx="1627717" cy="301823"/>
          </a:xfrm>
          <a:prstGeom prst="roundRect">
            <a:avLst>
              <a:gd name="adj" fmla="val 19987"/>
            </a:avLst>
          </a:prstGeom>
          <a:solidFill>
            <a:srgbClr val="FFFDF9"/>
          </a:solidFill>
          <a:ln w="6350">
            <a:solidFill>
              <a:srgbClr val="D9D2C5"/>
            </a:solidFill>
            <a:prstDash val="solid"/>
          </a:ln>
        </p:spPr>
        <p:txBody>
          <a:bodyPr wrap="square" lIns="59590" tIns="34190" rIns="8790" bIns="8790" rtlCol="0" anchor="t">
            <a:normAutofit/>
          </a:bodyPr>
          <a:lstStyle/>
          <a:p>
            <a:pPr algn="l" indent="0" marL="0">
              <a:lnSpc>
                <a:spcPts val="1560"/>
              </a:lnSpc>
              <a:buNone/>
            </a:pPr>
            <a:r>
              <a:rPr lang="en-US" sz="1200" dirty="0">
                <a:solidFill>
                  <a:srgbClr val="1F2A33"/>
                </a:solidFill>
                <a:latin typeface="Public Sans" pitchFamily="34" charset="0"/>
                <a:ea typeface="Public Sans" pitchFamily="34" charset="-122"/>
                <a:cs typeface="Public Sans" pitchFamily="34" charset="-120"/>
              </a:rPr>
              <a:t>Completed Projects</a:t>
            </a:r>
            <a:endParaRPr lang="en-US" sz="1200" dirty="0"/>
          </a:p>
        </p:txBody>
      </p:sp>
      <p:sp>
        <p:nvSpPr>
          <p:cNvPr id="19" name="Text 17"/>
          <p:cNvSpPr/>
          <p:nvPr/>
        </p:nvSpPr>
        <p:spPr>
          <a:xfrm>
            <a:off x="2602442" y="3643381"/>
            <a:ext cx="1627717" cy="301823"/>
          </a:xfrm>
          <a:prstGeom prst="roundRect">
            <a:avLst>
              <a:gd name="adj" fmla="val 19987"/>
            </a:avLst>
          </a:prstGeom>
          <a:solidFill>
            <a:srgbClr val="FFFDF9"/>
          </a:solidFill>
          <a:ln w="6350">
            <a:solidFill>
              <a:srgbClr val="D9D2C5"/>
            </a:solidFill>
            <a:prstDash val="solid"/>
          </a:ln>
        </p:spPr>
        <p:txBody>
          <a:bodyPr wrap="square" lIns="59590" tIns="34190" rIns="8790" bIns="8790" rtlCol="0" anchor="t">
            <a:normAutofit/>
          </a:bodyPr>
          <a:lstStyle/>
          <a:p>
            <a:pPr algn="l" indent="0" marL="0">
              <a:lnSpc>
                <a:spcPts val="1560"/>
              </a:lnSpc>
              <a:buNone/>
            </a:pPr>
            <a:r>
              <a:rPr lang="en-US" sz="1200" dirty="0">
                <a:solidFill>
                  <a:srgbClr val="1F2A33"/>
                </a:solidFill>
                <a:latin typeface="Public Sans" pitchFamily="34" charset="0"/>
                <a:ea typeface="Public Sans" pitchFamily="34" charset="-122"/>
                <a:cs typeface="Public Sans" pitchFamily="34" charset="-120"/>
              </a:rPr>
              <a:t>Project Categories</a:t>
            </a:r>
            <a:endParaRPr lang="en-US" sz="1200" dirty="0"/>
          </a:p>
        </p:txBody>
      </p:sp>
      <p:sp>
        <p:nvSpPr>
          <p:cNvPr id="20" name="Text 18"/>
          <p:cNvSpPr/>
          <p:nvPr/>
        </p:nvSpPr>
        <p:spPr>
          <a:xfrm>
            <a:off x="2602442" y="4002354"/>
            <a:ext cx="1627717" cy="301823"/>
          </a:xfrm>
          <a:prstGeom prst="roundRect">
            <a:avLst>
              <a:gd name="adj" fmla="val 19987"/>
            </a:avLst>
          </a:prstGeom>
          <a:solidFill>
            <a:srgbClr val="FFFDF9"/>
          </a:solidFill>
          <a:ln w="6350">
            <a:solidFill>
              <a:srgbClr val="D9D2C5"/>
            </a:solidFill>
            <a:prstDash val="solid"/>
          </a:ln>
        </p:spPr>
        <p:txBody>
          <a:bodyPr wrap="square" lIns="59590" tIns="34190" rIns="8790" bIns="8790" rtlCol="0" anchor="t">
            <a:normAutofit/>
          </a:bodyPr>
          <a:lstStyle/>
          <a:p>
            <a:pPr algn="l" indent="0" marL="0">
              <a:lnSpc>
                <a:spcPts val="1560"/>
              </a:lnSpc>
              <a:buNone/>
            </a:pPr>
            <a:r>
              <a:rPr lang="en-US" sz="1200" dirty="0">
                <a:solidFill>
                  <a:srgbClr val="1F2A33"/>
                </a:solidFill>
                <a:latin typeface="Public Sans" pitchFamily="34" charset="0"/>
                <a:ea typeface="Public Sans" pitchFamily="34" charset="-122"/>
                <a:cs typeface="Public Sans" pitchFamily="34" charset="-120"/>
              </a:rPr>
              <a:t>Project Details</a:t>
            </a:r>
            <a:endParaRPr lang="en-US" sz="1200" dirty="0"/>
          </a:p>
        </p:txBody>
      </p:sp>
      <p:sp>
        <p:nvSpPr>
          <p:cNvPr id="21" name="Shape 19"/>
          <p:cNvSpPr/>
          <p:nvPr/>
        </p:nvSpPr>
        <p:spPr>
          <a:xfrm>
            <a:off x="5196417" y="2236459"/>
            <a:ext cx="12700" cy="101600"/>
          </a:xfrm>
          <a:prstGeom prst="rect">
            <a:avLst/>
          </a:prstGeom>
          <a:solidFill>
            <a:srgbClr val="9AA3AB"/>
          </a:solidFill>
          <a:ln/>
        </p:spPr>
      </p:sp>
      <p:sp>
        <p:nvSpPr>
          <p:cNvPr id="22" name="Text 20"/>
          <p:cNvSpPr/>
          <p:nvPr/>
        </p:nvSpPr>
        <p:spPr>
          <a:xfrm>
            <a:off x="4392083" y="2344409"/>
            <a:ext cx="1621367" cy="520700"/>
          </a:xfrm>
          <a:prstGeom prst="roundRect">
            <a:avLst>
              <a:gd name="adj" fmla="val 13415"/>
            </a:avLst>
          </a:prstGeom>
          <a:solidFill>
            <a:srgbClr val="EDE8DF"/>
          </a:solidFill>
          <a:ln w="12700">
            <a:solidFill>
              <a:srgbClr val="1F2A33"/>
            </a:solidFill>
            <a:prstDash val="solid"/>
          </a:ln>
        </p:spPr>
        <p:txBody>
          <a:bodyPr wrap="square" lIns="36692" tIns="36692" rIns="36692" bIns="36692" rtlCol="0" anchor="ctr">
            <a:normAutofit/>
          </a:bodyPr>
          <a:lstStyle/>
          <a:p>
            <a:pPr algn="ctr" indent="0" marL="0">
              <a:lnSpc>
                <a:spcPts val="1440"/>
              </a:lnSpc>
              <a:buNone/>
            </a:pPr>
            <a:r>
              <a:rPr lang="en-US" sz="1200" b="1" dirty="0">
                <a:solidFill>
                  <a:srgbClr val="1F2A33"/>
                </a:solidFill>
                <a:latin typeface="Public Sans" pitchFamily="34" charset="0"/>
                <a:ea typeface="Public Sans" pitchFamily="34" charset="-122"/>
                <a:cs typeface="Public Sans" pitchFamily="34" charset="-120"/>
              </a:rPr>
              <a:t>Publications</a:t>
            </a:r>
            <a:endParaRPr lang="en-US" sz="1200" dirty="0"/>
          </a:p>
        </p:txBody>
      </p:sp>
      <p:sp>
        <p:nvSpPr>
          <p:cNvPr id="23" name="Text 21"/>
          <p:cNvSpPr/>
          <p:nvPr/>
        </p:nvSpPr>
        <p:spPr>
          <a:xfrm>
            <a:off x="4388908" y="2925434"/>
            <a:ext cx="1627717" cy="301823"/>
          </a:xfrm>
          <a:prstGeom prst="roundRect">
            <a:avLst>
              <a:gd name="adj" fmla="val 19987"/>
            </a:avLst>
          </a:prstGeom>
          <a:solidFill>
            <a:srgbClr val="FFFDF9"/>
          </a:solidFill>
          <a:ln w="6350">
            <a:solidFill>
              <a:srgbClr val="D9D2C5"/>
            </a:solidFill>
            <a:prstDash val="solid"/>
          </a:ln>
        </p:spPr>
        <p:txBody>
          <a:bodyPr wrap="square" lIns="59590" tIns="34190" rIns="8790" bIns="8790" rtlCol="0" anchor="t">
            <a:normAutofit/>
          </a:bodyPr>
          <a:lstStyle/>
          <a:p>
            <a:pPr algn="l" indent="0" marL="0">
              <a:lnSpc>
                <a:spcPts val="1560"/>
              </a:lnSpc>
              <a:buNone/>
            </a:pPr>
            <a:r>
              <a:rPr lang="en-US" sz="1200" dirty="0">
                <a:solidFill>
                  <a:srgbClr val="1F2A33"/>
                </a:solidFill>
                <a:latin typeface="Public Sans" pitchFamily="34" charset="0"/>
                <a:ea typeface="Public Sans" pitchFamily="34" charset="-122"/>
                <a:cs typeface="Public Sans" pitchFamily="34" charset="-120"/>
              </a:rPr>
              <a:t>Journal Articles</a:t>
            </a:r>
            <a:endParaRPr lang="en-US" sz="1200" dirty="0"/>
          </a:p>
        </p:txBody>
      </p:sp>
      <p:sp>
        <p:nvSpPr>
          <p:cNvPr id="24" name="Text 22"/>
          <p:cNvSpPr/>
          <p:nvPr/>
        </p:nvSpPr>
        <p:spPr>
          <a:xfrm>
            <a:off x="4388908" y="3284407"/>
            <a:ext cx="1627717" cy="301823"/>
          </a:xfrm>
          <a:prstGeom prst="roundRect">
            <a:avLst>
              <a:gd name="adj" fmla="val 19987"/>
            </a:avLst>
          </a:prstGeom>
          <a:solidFill>
            <a:srgbClr val="FFFDF9"/>
          </a:solidFill>
          <a:ln w="6350">
            <a:solidFill>
              <a:srgbClr val="D9D2C5"/>
            </a:solidFill>
            <a:prstDash val="solid"/>
          </a:ln>
        </p:spPr>
        <p:txBody>
          <a:bodyPr wrap="square" lIns="59590" tIns="34190" rIns="8790" bIns="8790" rtlCol="0" anchor="t">
            <a:normAutofit/>
          </a:bodyPr>
          <a:lstStyle/>
          <a:p>
            <a:pPr algn="l" indent="0" marL="0">
              <a:lnSpc>
                <a:spcPts val="1560"/>
              </a:lnSpc>
              <a:buNone/>
            </a:pPr>
            <a:r>
              <a:rPr lang="en-US" sz="1200" dirty="0">
                <a:solidFill>
                  <a:srgbClr val="1F2A33"/>
                </a:solidFill>
                <a:latin typeface="Public Sans" pitchFamily="34" charset="0"/>
                <a:ea typeface="Public Sans" pitchFamily="34" charset="-122"/>
                <a:cs typeface="Public Sans" pitchFamily="34" charset="-120"/>
              </a:rPr>
              <a:t>Reports</a:t>
            </a:r>
            <a:endParaRPr lang="en-US" sz="1200" dirty="0"/>
          </a:p>
        </p:txBody>
      </p:sp>
      <p:sp>
        <p:nvSpPr>
          <p:cNvPr id="25" name="Text 23"/>
          <p:cNvSpPr/>
          <p:nvPr/>
        </p:nvSpPr>
        <p:spPr>
          <a:xfrm>
            <a:off x="4388908" y="3643381"/>
            <a:ext cx="1627717" cy="301823"/>
          </a:xfrm>
          <a:prstGeom prst="roundRect">
            <a:avLst>
              <a:gd name="adj" fmla="val 19987"/>
            </a:avLst>
          </a:prstGeom>
          <a:solidFill>
            <a:srgbClr val="FFFDF9"/>
          </a:solidFill>
          <a:ln w="6350">
            <a:solidFill>
              <a:srgbClr val="D9D2C5"/>
            </a:solidFill>
            <a:prstDash val="solid"/>
          </a:ln>
        </p:spPr>
        <p:txBody>
          <a:bodyPr wrap="square" lIns="59590" tIns="34190" rIns="8790" bIns="8790" rtlCol="0" anchor="t">
            <a:normAutofit/>
          </a:bodyPr>
          <a:lstStyle/>
          <a:p>
            <a:pPr algn="l" indent="0" marL="0">
              <a:lnSpc>
                <a:spcPts val="1560"/>
              </a:lnSpc>
              <a:buNone/>
            </a:pPr>
            <a:r>
              <a:rPr lang="en-US" sz="1200" dirty="0">
                <a:solidFill>
                  <a:srgbClr val="1F2A33"/>
                </a:solidFill>
                <a:latin typeface="Public Sans" pitchFamily="34" charset="0"/>
                <a:ea typeface="Public Sans" pitchFamily="34" charset="-122"/>
                <a:cs typeface="Public Sans" pitchFamily="34" charset="-120"/>
              </a:rPr>
              <a:t>Posters</a:t>
            </a:r>
            <a:endParaRPr lang="en-US" sz="1200" dirty="0"/>
          </a:p>
        </p:txBody>
      </p:sp>
      <p:sp>
        <p:nvSpPr>
          <p:cNvPr id="26" name="Text 24"/>
          <p:cNvSpPr/>
          <p:nvPr/>
        </p:nvSpPr>
        <p:spPr>
          <a:xfrm>
            <a:off x="4388908" y="4002354"/>
            <a:ext cx="1627717" cy="301823"/>
          </a:xfrm>
          <a:prstGeom prst="roundRect">
            <a:avLst>
              <a:gd name="adj" fmla="val 19987"/>
            </a:avLst>
          </a:prstGeom>
          <a:solidFill>
            <a:srgbClr val="FFFDF9"/>
          </a:solidFill>
          <a:ln w="6350">
            <a:solidFill>
              <a:srgbClr val="D9D2C5"/>
            </a:solidFill>
            <a:prstDash val="solid"/>
          </a:ln>
        </p:spPr>
        <p:txBody>
          <a:bodyPr wrap="square" lIns="59590" tIns="34190" rIns="8790" bIns="8790" rtlCol="0" anchor="t">
            <a:normAutofit/>
          </a:bodyPr>
          <a:lstStyle/>
          <a:p>
            <a:pPr algn="l" indent="0" marL="0">
              <a:lnSpc>
                <a:spcPts val="1560"/>
              </a:lnSpc>
              <a:buNone/>
            </a:pPr>
            <a:r>
              <a:rPr lang="en-US" sz="1200" dirty="0">
                <a:solidFill>
                  <a:srgbClr val="1F2A33"/>
                </a:solidFill>
                <a:latin typeface="Public Sans" pitchFamily="34" charset="0"/>
                <a:ea typeface="Public Sans" pitchFamily="34" charset="-122"/>
                <a:cs typeface="Public Sans" pitchFamily="34" charset="-120"/>
              </a:rPr>
              <a:t>Other Resources</a:t>
            </a:r>
            <a:endParaRPr lang="en-US" sz="1200" dirty="0"/>
          </a:p>
        </p:txBody>
      </p:sp>
      <p:sp>
        <p:nvSpPr>
          <p:cNvPr id="27" name="Shape 25"/>
          <p:cNvSpPr/>
          <p:nvPr/>
        </p:nvSpPr>
        <p:spPr>
          <a:xfrm>
            <a:off x="6982884" y="2236459"/>
            <a:ext cx="12700" cy="101600"/>
          </a:xfrm>
          <a:prstGeom prst="rect">
            <a:avLst/>
          </a:prstGeom>
          <a:solidFill>
            <a:srgbClr val="9AA3AB"/>
          </a:solidFill>
          <a:ln/>
        </p:spPr>
      </p:sp>
      <p:sp>
        <p:nvSpPr>
          <p:cNvPr id="28" name="Text 26"/>
          <p:cNvSpPr/>
          <p:nvPr/>
        </p:nvSpPr>
        <p:spPr>
          <a:xfrm>
            <a:off x="6178550" y="2344409"/>
            <a:ext cx="1621367" cy="520700"/>
          </a:xfrm>
          <a:prstGeom prst="roundRect">
            <a:avLst>
              <a:gd name="adj" fmla="val 13415"/>
            </a:avLst>
          </a:prstGeom>
          <a:solidFill>
            <a:srgbClr val="EDE8DF"/>
          </a:solidFill>
          <a:ln w="12700">
            <a:solidFill>
              <a:srgbClr val="1F2A33"/>
            </a:solidFill>
            <a:prstDash val="solid"/>
          </a:ln>
        </p:spPr>
        <p:txBody>
          <a:bodyPr wrap="square" lIns="36692" tIns="36692" rIns="36692" bIns="36692" rtlCol="0" anchor="ctr">
            <a:normAutofit/>
          </a:bodyPr>
          <a:lstStyle/>
          <a:p>
            <a:pPr algn="ctr" indent="0" marL="0">
              <a:lnSpc>
                <a:spcPts val="1440"/>
              </a:lnSpc>
              <a:buNone/>
            </a:pPr>
            <a:r>
              <a:rPr lang="en-US" sz="1200" b="1" dirty="0">
                <a:solidFill>
                  <a:srgbClr val="1F2A33"/>
                </a:solidFill>
                <a:latin typeface="Public Sans" pitchFamily="34" charset="0"/>
                <a:ea typeface="Public Sans" pitchFamily="34" charset="-122"/>
                <a:cs typeface="Public Sans" pitchFamily="34" charset="-120"/>
              </a:rPr>
              <a:t>News &amp; Updates</a:t>
            </a:r>
            <a:endParaRPr lang="en-US" sz="1200" dirty="0"/>
          </a:p>
        </p:txBody>
      </p:sp>
      <p:sp>
        <p:nvSpPr>
          <p:cNvPr id="29" name="Text 27"/>
          <p:cNvSpPr/>
          <p:nvPr/>
        </p:nvSpPr>
        <p:spPr>
          <a:xfrm>
            <a:off x="6175375" y="2925434"/>
            <a:ext cx="1627717" cy="301823"/>
          </a:xfrm>
          <a:prstGeom prst="roundRect">
            <a:avLst>
              <a:gd name="adj" fmla="val 19987"/>
            </a:avLst>
          </a:prstGeom>
          <a:solidFill>
            <a:srgbClr val="FFFDF9"/>
          </a:solidFill>
          <a:ln w="6350">
            <a:solidFill>
              <a:srgbClr val="D9D2C5"/>
            </a:solidFill>
            <a:prstDash val="solid"/>
          </a:ln>
        </p:spPr>
        <p:txBody>
          <a:bodyPr wrap="square" lIns="59590" tIns="34190" rIns="8790" bIns="8790" rtlCol="0" anchor="t">
            <a:normAutofit/>
          </a:bodyPr>
          <a:lstStyle/>
          <a:p>
            <a:pPr algn="l" indent="0" marL="0">
              <a:lnSpc>
                <a:spcPts val="1560"/>
              </a:lnSpc>
              <a:buNone/>
            </a:pPr>
            <a:r>
              <a:rPr lang="en-US" sz="1200" dirty="0">
                <a:solidFill>
                  <a:srgbClr val="1F2A33"/>
                </a:solidFill>
                <a:latin typeface="Public Sans" pitchFamily="34" charset="0"/>
                <a:ea typeface="Public Sans" pitchFamily="34" charset="-122"/>
                <a:cs typeface="Public Sans" pitchFamily="34" charset="-120"/>
              </a:rPr>
              <a:t>Blog</a:t>
            </a:r>
            <a:endParaRPr lang="en-US" sz="1200" dirty="0"/>
          </a:p>
        </p:txBody>
      </p:sp>
      <p:sp>
        <p:nvSpPr>
          <p:cNvPr id="30" name="Text 28"/>
          <p:cNvSpPr/>
          <p:nvPr/>
        </p:nvSpPr>
        <p:spPr>
          <a:xfrm>
            <a:off x="6175375" y="3284407"/>
            <a:ext cx="1627717" cy="301823"/>
          </a:xfrm>
          <a:prstGeom prst="roundRect">
            <a:avLst>
              <a:gd name="adj" fmla="val 19987"/>
            </a:avLst>
          </a:prstGeom>
          <a:solidFill>
            <a:srgbClr val="FFFDF9"/>
          </a:solidFill>
          <a:ln w="6350">
            <a:solidFill>
              <a:srgbClr val="D9D2C5"/>
            </a:solidFill>
            <a:prstDash val="solid"/>
          </a:ln>
        </p:spPr>
        <p:txBody>
          <a:bodyPr wrap="square" lIns="59590" tIns="34190" rIns="8790" bIns="8790" rtlCol="0" anchor="t">
            <a:normAutofit/>
          </a:bodyPr>
          <a:lstStyle/>
          <a:p>
            <a:pPr algn="l" indent="0" marL="0">
              <a:lnSpc>
                <a:spcPts val="1560"/>
              </a:lnSpc>
              <a:buNone/>
            </a:pPr>
            <a:r>
              <a:rPr lang="en-US" sz="1200" dirty="0">
                <a:solidFill>
                  <a:srgbClr val="1F2A33"/>
                </a:solidFill>
                <a:latin typeface="Public Sans" pitchFamily="34" charset="0"/>
                <a:ea typeface="Public Sans" pitchFamily="34" charset="-122"/>
                <a:cs typeface="Public Sans" pitchFamily="34" charset="-120"/>
              </a:rPr>
              <a:t>Announcements</a:t>
            </a:r>
            <a:endParaRPr lang="en-US" sz="1200" dirty="0"/>
          </a:p>
        </p:txBody>
      </p:sp>
      <p:sp>
        <p:nvSpPr>
          <p:cNvPr id="31" name="Text 29"/>
          <p:cNvSpPr/>
          <p:nvPr/>
        </p:nvSpPr>
        <p:spPr>
          <a:xfrm>
            <a:off x="6175375" y="3643381"/>
            <a:ext cx="1627717" cy="301823"/>
          </a:xfrm>
          <a:prstGeom prst="roundRect">
            <a:avLst>
              <a:gd name="adj" fmla="val 19987"/>
            </a:avLst>
          </a:prstGeom>
          <a:solidFill>
            <a:srgbClr val="FFFDF9"/>
          </a:solidFill>
          <a:ln w="6350">
            <a:solidFill>
              <a:srgbClr val="D9D2C5"/>
            </a:solidFill>
            <a:prstDash val="solid"/>
          </a:ln>
        </p:spPr>
        <p:txBody>
          <a:bodyPr wrap="square" lIns="59590" tIns="34190" rIns="8790" bIns="8790" rtlCol="0" anchor="t">
            <a:normAutofit/>
          </a:bodyPr>
          <a:lstStyle/>
          <a:p>
            <a:pPr algn="l" indent="0" marL="0">
              <a:lnSpc>
                <a:spcPts val="1560"/>
              </a:lnSpc>
              <a:buNone/>
            </a:pPr>
            <a:r>
              <a:rPr lang="en-US" sz="1200" dirty="0">
                <a:solidFill>
                  <a:srgbClr val="1F2A33"/>
                </a:solidFill>
                <a:latin typeface="Public Sans" pitchFamily="34" charset="0"/>
                <a:ea typeface="Public Sans" pitchFamily="34" charset="-122"/>
                <a:cs typeface="Public Sans" pitchFamily="34" charset="-120"/>
              </a:rPr>
              <a:t>Events</a:t>
            </a:r>
            <a:endParaRPr lang="en-US" sz="1200" dirty="0"/>
          </a:p>
        </p:txBody>
      </p:sp>
      <p:sp>
        <p:nvSpPr>
          <p:cNvPr id="32" name="Text 30"/>
          <p:cNvSpPr/>
          <p:nvPr/>
        </p:nvSpPr>
        <p:spPr>
          <a:xfrm>
            <a:off x="6175375" y="4002354"/>
            <a:ext cx="1627717" cy="499930"/>
          </a:xfrm>
          <a:prstGeom prst="roundRect">
            <a:avLst>
              <a:gd name="adj" fmla="val 12067"/>
            </a:avLst>
          </a:prstGeom>
          <a:solidFill>
            <a:srgbClr val="FFFDF9"/>
          </a:solidFill>
          <a:ln w="6350">
            <a:solidFill>
              <a:srgbClr val="D9D2C5"/>
            </a:solidFill>
            <a:prstDash val="solid"/>
          </a:ln>
        </p:spPr>
        <p:txBody>
          <a:bodyPr wrap="square" lIns="59590" tIns="34190" rIns="8790" bIns="8790" rtlCol="0" anchor="t">
            <a:normAutofit/>
          </a:bodyPr>
          <a:lstStyle/>
          <a:p>
            <a:pPr algn="l" indent="0" marL="0">
              <a:lnSpc>
                <a:spcPts val="1560"/>
              </a:lnSpc>
              <a:buNone/>
            </a:pPr>
            <a:r>
              <a:rPr lang="en-US" sz="1200" dirty="0">
                <a:solidFill>
                  <a:srgbClr val="1F2A33"/>
                </a:solidFill>
                <a:latin typeface="Public Sans" pitchFamily="34" charset="0"/>
                <a:ea typeface="Public Sans" pitchFamily="34" charset="-122"/>
                <a:cs typeface="Public Sans" pitchFamily="34" charset="-120"/>
              </a:rPr>
              <a:t>Newsletter (optional)</a:t>
            </a:r>
            <a:endParaRPr lang="en-US" sz="1200" dirty="0"/>
          </a:p>
        </p:txBody>
      </p:sp>
      <p:sp>
        <p:nvSpPr>
          <p:cNvPr id="33" name="Shape 31"/>
          <p:cNvSpPr/>
          <p:nvPr/>
        </p:nvSpPr>
        <p:spPr>
          <a:xfrm>
            <a:off x="8769350" y="2236459"/>
            <a:ext cx="12700" cy="101600"/>
          </a:xfrm>
          <a:prstGeom prst="rect">
            <a:avLst/>
          </a:prstGeom>
          <a:solidFill>
            <a:srgbClr val="9AA3AB"/>
          </a:solidFill>
          <a:ln/>
        </p:spPr>
      </p:sp>
      <p:sp>
        <p:nvSpPr>
          <p:cNvPr id="34" name="Text 32"/>
          <p:cNvSpPr/>
          <p:nvPr/>
        </p:nvSpPr>
        <p:spPr>
          <a:xfrm>
            <a:off x="7965017" y="2344409"/>
            <a:ext cx="1621367" cy="520700"/>
          </a:xfrm>
          <a:prstGeom prst="roundRect">
            <a:avLst>
              <a:gd name="adj" fmla="val 13415"/>
            </a:avLst>
          </a:prstGeom>
          <a:solidFill>
            <a:srgbClr val="EDE8DF"/>
          </a:solidFill>
          <a:ln w="12700">
            <a:solidFill>
              <a:srgbClr val="1F2A33"/>
            </a:solidFill>
            <a:prstDash val="solid"/>
          </a:ln>
        </p:spPr>
        <p:txBody>
          <a:bodyPr wrap="square" lIns="36692" tIns="36692" rIns="36692" bIns="36692" rtlCol="0" anchor="ctr">
            <a:normAutofit/>
          </a:bodyPr>
          <a:lstStyle/>
          <a:p>
            <a:pPr algn="ctr" indent="0" marL="0">
              <a:lnSpc>
                <a:spcPts val="1440"/>
              </a:lnSpc>
              <a:buNone/>
            </a:pPr>
            <a:r>
              <a:rPr lang="en-US" sz="1200" b="1" dirty="0">
                <a:solidFill>
                  <a:srgbClr val="1F2A33"/>
                </a:solidFill>
                <a:latin typeface="Public Sans" pitchFamily="34" charset="0"/>
                <a:ea typeface="Public Sans" pitchFamily="34" charset="-122"/>
                <a:cs typeface="Public Sans" pitchFamily="34" charset="-120"/>
              </a:rPr>
              <a:t>Get Involved</a:t>
            </a:r>
            <a:endParaRPr lang="en-US" sz="1200" dirty="0"/>
          </a:p>
        </p:txBody>
      </p:sp>
      <p:sp>
        <p:nvSpPr>
          <p:cNvPr id="35" name="Text 33"/>
          <p:cNvSpPr/>
          <p:nvPr/>
        </p:nvSpPr>
        <p:spPr>
          <a:xfrm>
            <a:off x="7961842" y="2925434"/>
            <a:ext cx="1627717" cy="499930"/>
          </a:xfrm>
          <a:prstGeom prst="roundRect">
            <a:avLst>
              <a:gd name="adj" fmla="val 12067"/>
            </a:avLst>
          </a:prstGeom>
          <a:solidFill>
            <a:srgbClr val="FFFDF9"/>
          </a:solidFill>
          <a:ln w="6350">
            <a:solidFill>
              <a:srgbClr val="D9D2C5"/>
            </a:solidFill>
            <a:prstDash val="solid"/>
          </a:ln>
        </p:spPr>
        <p:txBody>
          <a:bodyPr wrap="square" lIns="59590" tIns="34190" rIns="8790" bIns="8790" rtlCol="0" anchor="t">
            <a:normAutofit/>
          </a:bodyPr>
          <a:lstStyle/>
          <a:p>
            <a:pPr algn="l" indent="0" marL="0">
              <a:lnSpc>
                <a:spcPts val="1560"/>
              </a:lnSpc>
              <a:buNone/>
            </a:pPr>
            <a:r>
              <a:rPr lang="en-US" sz="1200" dirty="0">
                <a:solidFill>
                  <a:srgbClr val="1F2A33"/>
                </a:solidFill>
                <a:latin typeface="Public Sans" pitchFamily="34" charset="0"/>
                <a:ea typeface="Public Sans" pitchFamily="34" charset="-122"/>
                <a:cs typeface="Public Sans" pitchFamily="34" charset="-120"/>
              </a:rPr>
              <a:t>Research Opportunities</a:t>
            </a:r>
            <a:endParaRPr lang="en-US" sz="1200" dirty="0"/>
          </a:p>
        </p:txBody>
      </p:sp>
      <p:sp>
        <p:nvSpPr>
          <p:cNvPr id="36" name="Text 34"/>
          <p:cNvSpPr/>
          <p:nvPr/>
        </p:nvSpPr>
        <p:spPr>
          <a:xfrm>
            <a:off x="7961842" y="3482513"/>
            <a:ext cx="1627717" cy="301823"/>
          </a:xfrm>
          <a:prstGeom prst="roundRect">
            <a:avLst>
              <a:gd name="adj" fmla="val 19987"/>
            </a:avLst>
          </a:prstGeom>
          <a:solidFill>
            <a:srgbClr val="FFFDF9"/>
          </a:solidFill>
          <a:ln w="6350">
            <a:solidFill>
              <a:srgbClr val="D9D2C5"/>
            </a:solidFill>
            <a:prstDash val="solid"/>
          </a:ln>
        </p:spPr>
        <p:txBody>
          <a:bodyPr wrap="square" lIns="59590" tIns="34190" rIns="8790" bIns="8790" rtlCol="0" anchor="t">
            <a:normAutofit/>
          </a:bodyPr>
          <a:lstStyle/>
          <a:p>
            <a:pPr algn="l" indent="0" marL="0">
              <a:lnSpc>
                <a:spcPts val="1560"/>
              </a:lnSpc>
              <a:buNone/>
            </a:pPr>
            <a:r>
              <a:rPr lang="en-US" sz="1200" dirty="0">
                <a:solidFill>
                  <a:srgbClr val="1F2A33"/>
                </a:solidFill>
                <a:latin typeface="Public Sans" pitchFamily="34" charset="0"/>
                <a:ea typeface="Public Sans" pitchFamily="34" charset="-122"/>
                <a:cs typeface="Public Sans" pitchFamily="34" charset="-120"/>
              </a:rPr>
              <a:t>Collaborate with Us</a:t>
            </a:r>
            <a:endParaRPr lang="en-US" sz="1200" dirty="0"/>
          </a:p>
        </p:txBody>
      </p:sp>
      <p:sp>
        <p:nvSpPr>
          <p:cNvPr id="37" name="Text 35"/>
          <p:cNvSpPr/>
          <p:nvPr/>
        </p:nvSpPr>
        <p:spPr>
          <a:xfrm>
            <a:off x="7961842" y="3841486"/>
            <a:ext cx="1627717" cy="499930"/>
          </a:xfrm>
          <a:prstGeom prst="roundRect">
            <a:avLst>
              <a:gd name="adj" fmla="val 12067"/>
            </a:avLst>
          </a:prstGeom>
          <a:solidFill>
            <a:srgbClr val="FFFDF9"/>
          </a:solidFill>
          <a:ln w="6350">
            <a:solidFill>
              <a:srgbClr val="D9D2C5"/>
            </a:solidFill>
            <a:prstDash val="solid"/>
          </a:ln>
        </p:spPr>
        <p:txBody>
          <a:bodyPr wrap="square" lIns="59590" tIns="34190" rIns="8790" bIns="8790" rtlCol="0" anchor="t">
            <a:normAutofit/>
          </a:bodyPr>
          <a:lstStyle/>
          <a:p>
            <a:pPr algn="l" indent="0" marL="0">
              <a:lnSpc>
                <a:spcPts val="1560"/>
              </a:lnSpc>
              <a:buNone/>
            </a:pPr>
            <a:r>
              <a:rPr lang="en-US" sz="1200" dirty="0">
                <a:solidFill>
                  <a:srgbClr val="1F2A33"/>
                </a:solidFill>
                <a:latin typeface="Public Sans" pitchFamily="34" charset="0"/>
                <a:ea typeface="Public Sans" pitchFamily="34" charset="-122"/>
                <a:cs typeface="Public Sans" pitchFamily="34" charset="-120"/>
              </a:rPr>
              <a:t>Community Partnerships</a:t>
            </a:r>
            <a:endParaRPr lang="en-US" sz="1200" dirty="0"/>
          </a:p>
        </p:txBody>
      </p:sp>
      <p:sp>
        <p:nvSpPr>
          <p:cNvPr id="38" name="Text 36"/>
          <p:cNvSpPr/>
          <p:nvPr/>
        </p:nvSpPr>
        <p:spPr>
          <a:xfrm>
            <a:off x="7961842" y="4398566"/>
            <a:ext cx="1627717" cy="301823"/>
          </a:xfrm>
          <a:prstGeom prst="roundRect">
            <a:avLst>
              <a:gd name="adj" fmla="val 19987"/>
            </a:avLst>
          </a:prstGeom>
          <a:solidFill>
            <a:srgbClr val="FFFDF9"/>
          </a:solidFill>
          <a:ln w="6350">
            <a:solidFill>
              <a:srgbClr val="D9D2C5"/>
            </a:solidFill>
            <a:prstDash val="solid"/>
          </a:ln>
        </p:spPr>
        <p:txBody>
          <a:bodyPr wrap="square" lIns="59590" tIns="34190" rIns="8790" bIns="8790" rtlCol="0" anchor="t">
            <a:normAutofit/>
          </a:bodyPr>
          <a:lstStyle/>
          <a:p>
            <a:pPr algn="l" indent="0" marL="0">
              <a:lnSpc>
                <a:spcPts val="1560"/>
              </a:lnSpc>
              <a:buNone/>
            </a:pPr>
            <a:r>
              <a:rPr lang="en-US" sz="1200" dirty="0">
                <a:solidFill>
                  <a:srgbClr val="1F2A33"/>
                </a:solidFill>
                <a:latin typeface="Public Sans" pitchFamily="34" charset="0"/>
                <a:ea typeface="Public Sans" pitchFamily="34" charset="-122"/>
                <a:cs typeface="Public Sans" pitchFamily="34" charset="-120"/>
              </a:rPr>
              <a:t>Contact / Inquiries</a:t>
            </a:r>
            <a:endParaRPr lang="en-US" sz="1200" dirty="0"/>
          </a:p>
        </p:txBody>
      </p:sp>
      <p:sp>
        <p:nvSpPr>
          <p:cNvPr id="39" name="Shape 37"/>
          <p:cNvSpPr/>
          <p:nvPr/>
        </p:nvSpPr>
        <p:spPr>
          <a:xfrm>
            <a:off x="10555817" y="2236459"/>
            <a:ext cx="12700" cy="101600"/>
          </a:xfrm>
          <a:prstGeom prst="rect">
            <a:avLst/>
          </a:prstGeom>
          <a:solidFill>
            <a:srgbClr val="9AA3AB"/>
          </a:solidFill>
          <a:ln/>
        </p:spPr>
      </p:sp>
      <p:sp>
        <p:nvSpPr>
          <p:cNvPr id="40" name="Text 38"/>
          <p:cNvSpPr/>
          <p:nvPr/>
        </p:nvSpPr>
        <p:spPr>
          <a:xfrm>
            <a:off x="9751484" y="2344409"/>
            <a:ext cx="1621367" cy="520700"/>
          </a:xfrm>
          <a:prstGeom prst="roundRect">
            <a:avLst>
              <a:gd name="adj" fmla="val 13415"/>
            </a:avLst>
          </a:prstGeom>
          <a:solidFill>
            <a:srgbClr val="EDE8DF"/>
          </a:solidFill>
          <a:ln w="12700">
            <a:solidFill>
              <a:srgbClr val="1F2A33"/>
            </a:solidFill>
            <a:prstDash val="solid"/>
          </a:ln>
        </p:spPr>
        <p:txBody>
          <a:bodyPr wrap="square" lIns="36692" tIns="36692" rIns="36692" bIns="36692" rtlCol="0" anchor="ctr">
            <a:normAutofit/>
          </a:bodyPr>
          <a:lstStyle/>
          <a:p>
            <a:pPr algn="ctr" indent="0" marL="0">
              <a:lnSpc>
                <a:spcPts val="1440"/>
              </a:lnSpc>
              <a:buNone/>
            </a:pPr>
            <a:r>
              <a:rPr lang="en-US" sz="1200" b="1" dirty="0">
                <a:solidFill>
                  <a:srgbClr val="1F2A33"/>
                </a:solidFill>
                <a:latin typeface="Public Sans" pitchFamily="34" charset="0"/>
                <a:ea typeface="Public Sans" pitchFamily="34" charset="-122"/>
                <a:cs typeface="Public Sans" pitchFamily="34" charset="-120"/>
              </a:rPr>
              <a:t>Related Sites</a:t>
            </a:r>
            <a:endParaRPr lang="en-US" sz="1200" dirty="0"/>
          </a:p>
        </p:txBody>
      </p:sp>
      <p:sp>
        <p:nvSpPr>
          <p:cNvPr id="41" name="Text 39"/>
          <p:cNvSpPr/>
          <p:nvPr/>
        </p:nvSpPr>
        <p:spPr>
          <a:xfrm>
            <a:off x="9751484" y="2928609"/>
            <a:ext cx="1621367" cy="510514"/>
          </a:xfrm>
          <a:prstGeom prst="roundRect">
            <a:avLst>
              <a:gd name="adj" fmla="val 11195"/>
            </a:avLst>
          </a:prstGeom>
          <a:solidFill>
            <a:srgbClr val="FFFDF9"/>
          </a:solidFill>
          <a:ln w="12700">
            <a:solidFill>
              <a:srgbClr val="9AA3AB"/>
            </a:solidFill>
            <a:prstDash val="dash"/>
          </a:ln>
        </p:spPr>
        <p:txBody>
          <a:bodyPr wrap="square" lIns="65811" tIns="40411" rIns="15011" bIns="15011" rtlCol="0" anchor="t">
            <a:normAutofit/>
          </a:bodyPr>
          <a:lstStyle/>
          <a:p>
            <a:pPr algn="l" indent="0" marL="0">
              <a:lnSpc>
                <a:spcPts val="1560"/>
              </a:lnSpc>
              <a:buNone/>
            </a:pPr>
            <a:r>
              <a:rPr lang="en-US" sz="1200" dirty="0">
                <a:solidFill>
                  <a:srgbClr val="1F2A33"/>
                </a:solidFill>
                <a:latin typeface="Public Sans" pitchFamily="34" charset="0"/>
                <a:ea typeface="Public Sans" pitchFamily="34" charset="-122"/>
                <a:cs typeface="Public Sans" pitchFamily="34" charset="-120"/>
              </a:rPr>
              <a:t>APSS Main Website ↗</a:t>
            </a:r>
            <a:endParaRPr lang="en-US" sz="1200" dirty="0"/>
          </a:p>
        </p:txBody>
      </p:sp>
      <p:sp>
        <p:nvSpPr>
          <p:cNvPr id="42" name="Text 40"/>
          <p:cNvSpPr/>
          <p:nvPr/>
        </p:nvSpPr>
        <p:spPr>
          <a:xfrm>
            <a:off x="9751484" y="3502620"/>
            <a:ext cx="1621367" cy="312407"/>
          </a:xfrm>
          <a:prstGeom prst="roundRect">
            <a:avLst>
              <a:gd name="adj" fmla="val 18293"/>
            </a:avLst>
          </a:prstGeom>
          <a:solidFill>
            <a:srgbClr val="FFFDF9"/>
          </a:solidFill>
          <a:ln w="12700">
            <a:solidFill>
              <a:srgbClr val="9AA3AB"/>
            </a:solidFill>
            <a:prstDash val="dash"/>
          </a:ln>
        </p:spPr>
        <p:txBody>
          <a:bodyPr wrap="square" lIns="65811" tIns="40411" rIns="15011" bIns="15011" rtlCol="0" anchor="t">
            <a:normAutofit/>
          </a:bodyPr>
          <a:lstStyle/>
          <a:p>
            <a:pPr algn="l" indent="0" marL="0">
              <a:lnSpc>
                <a:spcPts val="1560"/>
              </a:lnSpc>
              <a:buNone/>
            </a:pPr>
            <a:r>
              <a:rPr lang="en-US" sz="1200" dirty="0">
                <a:solidFill>
                  <a:srgbClr val="1F2A33"/>
                </a:solidFill>
                <a:latin typeface="Public Sans" pitchFamily="34" charset="0"/>
                <a:ea typeface="Public Sans" pitchFamily="34" charset="-122"/>
                <a:cs typeface="Public Sans" pitchFamily="34" charset="-120"/>
              </a:rPr>
              <a:t>reportneedles.ca ↗</a:t>
            </a:r>
            <a:endParaRPr lang="en-US" sz="1200" dirty="0"/>
          </a:p>
        </p:txBody>
      </p:sp>
      <p:sp>
        <p:nvSpPr>
          <p:cNvPr id="43" name="Text 41"/>
          <p:cNvSpPr/>
          <p:nvPr/>
        </p:nvSpPr>
        <p:spPr>
          <a:xfrm>
            <a:off x="9748309" y="3875354"/>
            <a:ext cx="1627717" cy="499930"/>
          </a:xfrm>
          <a:prstGeom prst="roundRect">
            <a:avLst>
              <a:gd name="adj" fmla="val 12067"/>
            </a:avLst>
          </a:prstGeom>
          <a:solidFill>
            <a:srgbClr val="FFFDF9"/>
          </a:solidFill>
          <a:ln w="6350">
            <a:solidFill>
              <a:srgbClr val="D9D2C5"/>
            </a:solidFill>
            <a:prstDash val="solid"/>
          </a:ln>
        </p:spPr>
        <p:txBody>
          <a:bodyPr wrap="square" lIns="59590" tIns="34190" rIns="8790" bIns="8790" rtlCol="0" anchor="t">
            <a:normAutofit/>
          </a:bodyPr>
          <a:lstStyle/>
          <a:p>
            <a:pPr algn="l" indent="0" marL="0">
              <a:lnSpc>
                <a:spcPts val="1560"/>
              </a:lnSpc>
              <a:buNone/>
            </a:pPr>
            <a:r>
              <a:rPr lang="en-US" sz="1200" dirty="0">
                <a:solidFill>
                  <a:srgbClr val="1F2A33"/>
                </a:solidFill>
                <a:latin typeface="Public Sans" pitchFamily="34" charset="0"/>
                <a:ea typeface="Public Sans" pitchFamily="34" charset="-122"/>
                <a:cs typeface="Public Sans" pitchFamily="34" charset="-120"/>
              </a:rPr>
              <a:t>Other Links (optional)</a:t>
            </a:r>
            <a:endParaRPr lang="en-US" sz="1200" dirty="0"/>
          </a:p>
        </p:txBody>
      </p:sp>
      <p:sp>
        <p:nvSpPr>
          <p:cNvPr id="44" name="Shape 42"/>
          <p:cNvSpPr/>
          <p:nvPr/>
        </p:nvSpPr>
        <p:spPr>
          <a:xfrm>
            <a:off x="812800" y="4857750"/>
            <a:ext cx="10566400" cy="452107"/>
          </a:xfrm>
          <a:prstGeom prst="roundRect">
            <a:avLst>
              <a:gd name="adj" fmla="val 22473"/>
            </a:avLst>
          </a:prstGeom>
          <a:solidFill>
            <a:srgbClr val="DCEFEA"/>
          </a:solidFill>
          <a:ln/>
        </p:spPr>
      </p:sp>
      <p:pic>
        <p:nvPicPr>
          <p:cNvPr id="45" name="Image 0" descr="Chat">    </p:cNvPr>
          <p:cNvPicPr>
            <a:picLocks noChangeAspect="1"/>
          </p:cNvPicPr>
          <p:nvPr/>
        </p:nvPicPr>
        <p:blipFill>
          <a:blip r:embed="rId1"/>
          <a:srcRect l="0" r="0" t="0" b="0"/>
          <a:stretch/>
        </p:blipFill>
        <p:spPr>
          <a:xfrm>
            <a:off x="990600" y="4969470"/>
            <a:ext cx="228600" cy="228600"/>
          </a:xfrm>
          <a:prstGeom prst="rect">
            <a:avLst/>
          </a:prstGeom>
        </p:spPr>
      </p:pic>
      <p:sp>
        <p:nvSpPr>
          <p:cNvPr id="46" name="Text 43"/>
          <p:cNvSpPr/>
          <p:nvPr/>
        </p:nvSpPr>
        <p:spPr>
          <a:xfrm>
            <a:off x="1346200" y="4959350"/>
            <a:ext cx="6249988" cy="27430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1181D"/>
                </a:solidFill>
                <a:latin typeface="Public Sans" pitchFamily="34" charset="0"/>
                <a:ea typeface="Public Sans" pitchFamily="34" charset="-122"/>
                <a:cs typeface="Public Sans" pitchFamily="34" charset="-120"/>
              </a:rPr>
              <a:t>Lean (A) or expanded (B)? Which sections matter most to you?</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F6E6E"/>
                </a:solidFill>
                <a:latin typeface="Public Sans" pitchFamily="34" charset="0"/>
                <a:ea typeface="Public Sans" pitchFamily="34" charset="-122"/>
                <a:cs typeface="Public Sans" pitchFamily="34" charset="-120"/>
              </a:rPr>
              <a:t>LOW-FIDELITY PROTOTYPES · PAPER SKETCHES</a:t>
            </a:r>
            <a:endParaRPr lang="en-US" sz="1200" dirty="0"/>
          </a:p>
        </p:txBody>
      </p:sp>
      <p:sp>
        <p:nvSpPr>
          <p:cNvPr id="3" name="Text 1"/>
          <p:cNvSpPr/>
          <p:nvPr>
            <p:ph type="title"/>
          </p:nvPr>
        </p:nvSpPr>
        <p:spPr>
          <a:xfrm>
            <a:off x="812800" y="11277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F2A33"/>
                </a:solidFill>
                <a:latin typeface="Source Serif 4" pitchFamily="18" charset="0"/>
                <a:ea typeface="Source Serif 4" pitchFamily="18" charset="-122"/>
                <a:cs typeface="Source Serif 4" pitchFamily="18" charset="-120"/>
              </a:rPr>
              <a:t>One sketch from each team member</a:t>
            </a:r>
            <a:endParaRPr lang="en-US" sz="3200" dirty="0"/>
          </a:p>
        </p:txBody>
      </p:sp>
      <p:sp>
        <p:nvSpPr>
          <p:cNvPr id="4" name="Shape 2"/>
          <p:cNvSpPr/>
          <p:nvPr/>
        </p:nvSpPr>
        <p:spPr>
          <a:xfrm>
            <a:off x="812800" y="1798241"/>
            <a:ext cx="1993900" cy="2794000"/>
          </a:xfrm>
          <a:prstGeom prst="roundRect">
            <a:avLst>
              <a:gd name="adj" fmla="val 5096"/>
            </a:avLst>
          </a:prstGeom>
          <a:solidFill>
            <a:srgbClr val="EDE8DF"/>
          </a:solidFill>
          <a:ln/>
        </p:spPr>
      </p:sp>
      <p:pic>
        <p:nvPicPr>
          <p:cNvPr id="5" name="Image 0" descr="Hand-drawn wireframe of the research site home page: header with menu and external links, Browse Projects button and search box, three project cards, publications and blog boxes, and a footer, with circled numbers marking the design concepts">    </p:cNvPr>
          <p:cNvPicPr>
            <a:picLocks noChangeAspect="1"/>
          </p:cNvPicPr>
          <p:nvPr/>
        </p:nvPicPr>
        <p:blipFill>
          <a:blip r:embed="rId1"/>
          <a:stretch>
            <a:fillRect/>
          </a:stretch>
        </p:blipFill>
        <p:spPr>
          <a:xfrm>
            <a:off x="829231" y="1798241"/>
            <a:ext cx="1961039" cy="2794000"/>
          </a:xfrm>
          <a:custGeom>
            <a:avLst/>
            <a:gdLst/>
            <a:ahLst/>
            <a:cxnLst/>
            <a:rect l="l" t="t" r="r" b="b"/>
            <a:pathLst>
              <a:path w="1961039" h="2794000">
                <a:moveTo>
                  <a:pt x="0" y="46204"/>
                </a:moveTo>
                <a:arcTo wR="101600" hR="101600" stAng="12782456" swAng="3417544"/>
                <a:lnTo>
                  <a:pt x="1875869" y="0"/>
                </a:lnTo>
                <a:arcTo wR="101600" hR="101600" stAng="16200000" swAng="3417544"/>
                <a:lnTo>
                  <a:pt x="1961039" y="2747796"/>
                </a:lnTo>
                <a:arcTo wR="101600" hR="101600" stAng="1982456" swAng="3417544"/>
                <a:lnTo>
                  <a:pt x="85169" y="2794000"/>
                </a:lnTo>
                <a:arcTo wR="101600" hR="101600" stAng="5400000" swAng="3417544"/>
                <a:close/>
              </a:path>
            </a:pathLst>
          </a:custGeom>
        </p:spPr>
      </p:pic>
      <p:sp>
        <p:nvSpPr>
          <p:cNvPr id="6" name="Text 3"/>
          <p:cNvSpPr/>
          <p:nvPr/>
        </p:nvSpPr>
        <p:spPr>
          <a:xfrm>
            <a:off x="812800" y="4693841"/>
            <a:ext cx="2051060" cy="421614"/>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1F2A33"/>
                </a:solidFill>
                <a:latin typeface="Public Sans" pitchFamily="34" charset="0"/>
                <a:ea typeface="Public Sans" pitchFamily="34" charset="-122"/>
                <a:cs typeface="Public Sans" pitchFamily="34" charset="-120"/>
              </a:rPr>
              <a:t>Home page</a:t>
            </a:r>
            <a:endParaRPr lang="en-US" sz="1200" dirty="0"/>
          </a:p>
          <a:p>
            <a:pPr algn="l" indent="0" marL="0">
              <a:lnSpc>
                <a:spcPts val="1560"/>
              </a:lnSpc>
              <a:buNone/>
            </a:pPr>
            <a:r>
              <a:rPr lang="en-US" sz="1200" dirty="0">
                <a:solidFill>
                  <a:srgbClr val="1F2A33"/>
                </a:solidFill>
                <a:latin typeface="Public Sans" pitchFamily="34" charset="0"/>
                <a:ea typeface="Public Sans" pitchFamily="34" charset="-122"/>
                <a:cs typeface="Public Sans" pitchFamily="34" charset="-120"/>
              </a:rPr>
              <a:t>Chop Peter Kur</a:t>
            </a:r>
            <a:endParaRPr lang="en-US" sz="1200" dirty="0"/>
          </a:p>
        </p:txBody>
      </p:sp>
      <p:sp>
        <p:nvSpPr>
          <p:cNvPr id="24" name="Sketch panel 24"/>
          <p:cNvSpPr/>
          <p:nvPr/>
        </p:nvSpPr>
        <p:spPr>
          <a:xfrm>
            <a:off x="2966045" y="1807766"/>
            <a:ext cx="1972337" cy="2774950"/>
          </a:xfrm>
          <a:prstGeom prst="roundRect">
            <a:avLst>
              <a:gd name="adj" fmla="val 5096"/>
            </a:avLst>
          </a:prstGeom>
          <a:solidFill>
            <a:srgbClr val="EDE8DF"/>
          </a:solidFill>
          <a:ln/>
        </p:spPr>
      </p:sp>
      <p:sp>
        <p:nvSpPr>
          <p:cNvPr id="8" name="Text 5"/>
          <p:cNvSpPr/>
          <p:nvPr/>
        </p:nvSpPr>
        <p:spPr>
          <a:xfrm>
            <a:off x="2956520" y="4693841"/>
            <a:ext cx="2051128" cy="421614"/>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1F2A33"/>
                </a:solidFill>
                <a:latin typeface="Public Sans" pitchFamily="34" charset="0"/>
                <a:ea typeface="Public Sans" pitchFamily="34" charset="-122"/>
                <a:cs typeface="Public Sans" pitchFamily="34" charset="-120"/>
              </a:rPr>
              <a:t>Project page</a:t>
            </a:r>
            <a:endParaRPr lang="en-US" sz="1200" dirty="0"/>
          </a:p>
          <a:p>
            <a:pPr algn="l" indent="0" marL="0">
              <a:lnSpc>
                <a:spcPts val="1560"/>
              </a:lnSpc>
              <a:buNone/>
            </a:pPr>
            <a:r>
              <a:rPr lang="en-US" sz="1200" dirty="0">
                <a:solidFill>
                  <a:srgbClr val="1F2A33"/>
                </a:solidFill>
                <a:latin typeface="Public Sans" pitchFamily="34" charset="0"/>
                <a:ea typeface="Public Sans" pitchFamily="34" charset="-122"/>
                <a:cs typeface="Public Sans" pitchFamily="34" charset="-120"/>
              </a:rPr>
              <a:t>Samuel Willis</a:t>
            </a:r>
            <a:endParaRPr lang="en-US" sz="1200" dirty="0"/>
          </a:p>
        </p:txBody>
      </p:sp>
      <p:sp>
        <p:nvSpPr>
          <p:cNvPr id="20" name="Sketch panel 20"/>
          <p:cNvSpPr/>
          <p:nvPr/>
        </p:nvSpPr>
        <p:spPr>
          <a:xfrm>
            <a:off x="5109832" y="1807766"/>
            <a:ext cx="1972270" cy="2774950"/>
          </a:xfrm>
          <a:prstGeom prst="roundRect">
            <a:avLst>
              <a:gd name="adj" fmla="val 5096"/>
            </a:avLst>
          </a:prstGeom>
          <a:solidFill>
            <a:srgbClr val="EDE8DF"/>
          </a:solidFill>
          <a:ln/>
        </p:spPr>
      </p:sp>
      <p:sp>
        <p:nvSpPr>
          <p:cNvPr id="10" name="Text 7"/>
          <p:cNvSpPr/>
          <p:nvPr/>
        </p:nvSpPr>
        <p:spPr>
          <a:xfrm>
            <a:off x="5100307" y="4693841"/>
            <a:ext cx="2051060" cy="421614"/>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1F2A33"/>
                </a:solidFill>
                <a:latin typeface="Public Sans" pitchFamily="34" charset="0"/>
                <a:ea typeface="Public Sans" pitchFamily="34" charset="-122"/>
                <a:cs typeface="Public Sans" pitchFamily="34" charset="-120"/>
              </a:rPr>
              <a:t>Project Details page</a:t>
            </a:r>
            <a:endParaRPr lang="en-US" sz="1200" dirty="0"/>
          </a:p>
          <a:p>
            <a:pPr algn="l" indent="0" marL="0">
              <a:lnSpc>
                <a:spcPts val="1560"/>
              </a:lnSpc>
              <a:buNone/>
            </a:pPr>
            <a:r>
              <a:rPr lang="en-US" sz="1200" dirty="0">
                <a:solidFill>
                  <a:srgbClr val="1F2A33"/>
                </a:solidFill>
                <a:latin typeface="Public Sans" pitchFamily="34" charset="0"/>
                <a:ea typeface="Public Sans" pitchFamily="34" charset="-122"/>
                <a:cs typeface="Public Sans" pitchFamily="34" charset="-120"/>
              </a:rPr>
              <a:t>Muhammad Mouzzan</a:t>
            </a:r>
            <a:endParaRPr lang="en-US" sz="1200" dirty="0"/>
          </a:p>
        </p:txBody>
      </p:sp>
      <p:sp>
        <p:nvSpPr>
          <p:cNvPr id="21" name="Sketch panel 21"/>
          <p:cNvSpPr/>
          <p:nvPr/>
        </p:nvSpPr>
        <p:spPr>
          <a:xfrm>
            <a:off x="7253553" y="1807766"/>
            <a:ext cx="1972337" cy="2774950"/>
          </a:xfrm>
          <a:prstGeom prst="roundRect">
            <a:avLst>
              <a:gd name="adj" fmla="val 5096"/>
            </a:avLst>
          </a:prstGeom>
          <a:solidFill>
            <a:srgbClr val="EDE8DF"/>
          </a:solidFill>
          <a:ln/>
        </p:spPr>
      </p:sp>
      <p:sp>
        <p:nvSpPr>
          <p:cNvPr id="12" name="Text 9"/>
          <p:cNvSpPr/>
          <p:nvPr/>
        </p:nvSpPr>
        <p:spPr>
          <a:xfrm>
            <a:off x="7244028" y="4693841"/>
            <a:ext cx="2051128" cy="421614"/>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1F2A33"/>
                </a:solidFill>
                <a:latin typeface="Public Sans" pitchFamily="34" charset="0"/>
                <a:ea typeface="Public Sans" pitchFamily="34" charset="-122"/>
                <a:cs typeface="Public Sans" pitchFamily="34" charset="-120"/>
              </a:rPr>
              <a:t>Publications page</a:t>
            </a:r>
            <a:endParaRPr lang="en-US" sz="1200" dirty="0"/>
          </a:p>
          <a:p>
            <a:pPr algn="l" indent="0" marL="0">
              <a:lnSpc>
                <a:spcPts val="1560"/>
              </a:lnSpc>
              <a:buNone/>
            </a:pPr>
            <a:r>
              <a:rPr lang="en-US" sz="1200" dirty="0">
                <a:solidFill>
                  <a:srgbClr val="1F2A33"/>
                </a:solidFill>
                <a:latin typeface="Public Sans" pitchFamily="34" charset="0"/>
                <a:ea typeface="Public Sans" pitchFamily="34" charset="-122"/>
                <a:cs typeface="Public Sans" pitchFamily="34" charset="-120"/>
              </a:rPr>
              <a:t>Oluwateniola Fayokun</a:t>
            </a:r>
            <a:endParaRPr lang="en-US" sz="1200" dirty="0"/>
          </a:p>
        </p:txBody>
      </p:sp>
      <p:sp>
        <p:nvSpPr>
          <p:cNvPr id="22" name="Sketch panel 22"/>
          <p:cNvSpPr/>
          <p:nvPr/>
        </p:nvSpPr>
        <p:spPr>
          <a:xfrm>
            <a:off x="9397339" y="1807766"/>
            <a:ext cx="1972337" cy="2774950"/>
          </a:xfrm>
          <a:prstGeom prst="roundRect">
            <a:avLst>
              <a:gd name="adj" fmla="val 5096"/>
            </a:avLst>
          </a:prstGeom>
          <a:solidFill>
            <a:srgbClr val="EDE8DF"/>
          </a:solidFill>
          <a:ln/>
        </p:spPr>
      </p:sp>
      <p:sp>
        <p:nvSpPr>
          <p:cNvPr id="14" name="Text 11"/>
          <p:cNvSpPr/>
          <p:nvPr/>
        </p:nvSpPr>
        <p:spPr>
          <a:xfrm>
            <a:off x="9387814" y="4693841"/>
            <a:ext cx="2051128" cy="421614"/>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1F2A33"/>
                </a:solidFill>
                <a:latin typeface="Public Sans" pitchFamily="34" charset="0"/>
                <a:ea typeface="Public Sans" pitchFamily="34" charset="-122"/>
                <a:cs typeface="Public Sans" pitchFamily="34" charset="-120"/>
              </a:rPr>
              <a:t>Research Blog page</a:t>
            </a:r>
            <a:endParaRPr lang="en-US" sz="1200" dirty="0"/>
          </a:p>
          <a:p>
            <a:pPr algn="l" indent="0" marL="0">
              <a:lnSpc>
                <a:spcPts val="1560"/>
              </a:lnSpc>
              <a:buNone/>
            </a:pPr>
            <a:r>
              <a:rPr lang="en-US" sz="1200" dirty="0">
                <a:solidFill>
                  <a:srgbClr val="1F2A33"/>
                </a:solidFill>
                <a:latin typeface="Public Sans" pitchFamily="34" charset="0"/>
                <a:ea typeface="Public Sans" pitchFamily="34" charset="-122"/>
                <a:cs typeface="Public Sans" pitchFamily="34" charset="-120"/>
              </a:rPr>
              <a:t>Marie Basler</a:t>
            </a:r>
            <a:endParaRPr lang="en-US" sz="1200" dirty="0"/>
          </a:p>
        </p:txBody>
      </p:sp>
      <p:sp>
        <p:nvSpPr>
          <p:cNvPr id="15" name="Shape 12"/>
          <p:cNvSpPr/>
          <p:nvPr/>
        </p:nvSpPr>
        <p:spPr>
          <a:xfrm>
            <a:off x="812800" y="5293258"/>
            <a:ext cx="10566400" cy="452107"/>
          </a:xfrm>
          <a:prstGeom prst="roundRect">
            <a:avLst>
              <a:gd name="adj" fmla="val 22473"/>
            </a:avLst>
          </a:prstGeom>
          <a:solidFill>
            <a:srgbClr val="DCEFEA"/>
          </a:solidFill>
          <a:ln/>
        </p:spPr>
      </p:sp>
      <p:pic>
        <p:nvPicPr>
          <p:cNvPr id="16" name="Image 1" descr="Chat">    </p:cNvPr>
          <p:cNvPicPr>
            <a:picLocks noChangeAspect="1"/>
          </p:cNvPicPr>
          <p:nvPr/>
        </p:nvPicPr>
        <p:blipFill>
          <a:blip r:embed="rId2"/>
          <a:srcRect l="0" r="0" t="0" b="0"/>
          <a:stretch/>
        </p:blipFill>
        <p:spPr>
          <a:xfrm>
            <a:off x="990600" y="5404979"/>
            <a:ext cx="228600" cy="228600"/>
          </a:xfrm>
          <a:prstGeom prst="rect">
            <a:avLst/>
          </a:prstGeom>
        </p:spPr>
      </p:pic>
      <p:sp>
        <p:nvSpPr>
          <p:cNvPr id="17" name="Text 13"/>
          <p:cNvSpPr/>
          <p:nvPr/>
        </p:nvSpPr>
        <p:spPr>
          <a:xfrm>
            <a:off x="1346200" y="5394858"/>
            <a:ext cx="5600700" cy="27430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1181D"/>
                </a:solidFill>
                <a:latin typeface="Public Sans" pitchFamily="34" charset="0"/>
                <a:ea typeface="Public Sans" pitchFamily="34" charset="-122"/>
                <a:cs typeface="Public Sans" pitchFamily="34" charset="-120"/>
              </a:rPr>
              <a:t>What works, what doesn’t, and what would you change?</a:t>
            </a:r>
            <a:endParaRPr lang="en-US" sz="1400" dirty="0"/>
          </a:p>
        </p:txBody>
      </p:sp>
      <p:sp>
        <p:nvSpPr>
          <p:cNvPr id="18" name="Text 14"/>
          <p:cNvSpPr/>
          <p:nvPr/>
        </p:nvSpPr>
        <p:spPr>
          <a:xfrm>
            <a:off x="812800" y="6238280"/>
            <a:ext cx="390183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872"/>
                </a:solidFill>
                <a:latin typeface="Public Sans" pitchFamily="34" charset="0"/>
                <a:ea typeface="Public Sans" pitchFamily="34" charset="-122"/>
                <a:cs typeface="Public Sans" pitchFamily="34" charset="-120"/>
              </a:rPr>
              <a:t>APSS Research Website · Customer check-in 1</a:t>
            </a:r>
            <a:endParaRPr lang="en-US" sz="1200" dirty="0"/>
          </a:p>
        </p:txBody>
      </p:sp>
      <p:sp>
        <p:nvSpPr>
          <p:cNvPr id="19" name="Text 15"/>
          <p:cNvSpPr/>
          <p:nvPr/>
        </p:nvSpPr>
        <p:spPr>
          <a:xfrm>
            <a:off x="11229711" y="6238280"/>
            <a:ext cx="14949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872"/>
                </a:solidFill>
                <a:latin typeface="Public Sans" pitchFamily="34" charset="0"/>
                <a:ea typeface="Public Sans" pitchFamily="34" charset="-122"/>
                <a:cs typeface="Public Sans" pitchFamily="34" charset="-120"/>
              </a:rPr>
              <a:t>8</a:t>
            </a:r>
            <a:endParaRPr lang="en-US" sz="1200" dirty="0"/>
          </a:p>
        </p:txBody>
      </p:sp>
      <p:pic>
        <p:nvPicPr>
          <p:cNvPr id="21" name="Sketch Project Details page" descr="Hand-drawn wireframe of a project details page: header, back link, project title banner, overview, details box, stats, latest updates and a Get Involved button"/>
          <p:cNvPicPr>
            <a:picLocks noChangeAspect="1"/>
          </p:cNvPicPr>
          <p:nvPr/>
        </p:nvPicPr>
        <p:blipFill>
          <a:blip r:embed="rId5"/>
          <a:stretch>
            <a:fillRect/>
          </a:stretch>
        </p:blipFill>
        <p:spPr>
          <a:xfrm>
            <a:off x="5109832" y="1949597"/>
            <a:ext cx="1972270" cy="2491288"/>
          </a:xfrm>
          <a:prstGeom prst="rect">
            <a:avLst/>
          </a:prstGeom>
        </p:spPr>
      </p:pic>
      <p:pic>
        <p:nvPicPr>
          <p:cNvPr id="22" name="Sketch Publications page" descr="Hand-drawn wireframe of the publications page: search bar, journal article cards, research poster cards and a featured research section"/>
          <p:cNvPicPr>
            <a:picLocks noChangeAspect="1"/>
          </p:cNvPicPr>
          <p:nvPr/>
        </p:nvPicPr>
        <p:blipFill>
          <a:blip r:embed="rId6"/>
          <a:stretch>
            <a:fillRect/>
          </a:stretch>
        </p:blipFill>
        <p:spPr>
          <a:xfrm>
            <a:off x="7253553" y="1949645"/>
            <a:ext cx="1972337" cy="2491192"/>
          </a:xfrm>
          <a:prstGeom prst="rect">
            <a:avLst/>
          </a:prstGeom>
        </p:spPr>
      </p:pic>
      <p:pic>
        <p:nvPicPr>
          <p:cNvPr id="23" name="Sketch Research Blog page" descr="Wireframe of the research blog page: keyword search and a list of blog entry cards with image, date, heading and summary"/>
          <p:cNvPicPr>
            <a:picLocks noChangeAspect="1"/>
          </p:cNvPicPr>
          <p:nvPr/>
        </p:nvPicPr>
        <p:blipFill>
          <a:blip r:embed="rId7"/>
          <a:stretch>
            <a:fillRect/>
          </a:stretch>
        </p:blipFill>
        <p:spPr>
          <a:xfrm>
            <a:off x="9397339" y="1925741"/>
            <a:ext cx="1972336" cy="2538999"/>
          </a:xfrm>
          <a:prstGeom prst="rect">
            <a:avLst/>
          </a:prstGeom>
        </p:spPr>
      </p:pic>
      <p:pic>
        <p:nvPicPr>
          <p:cNvPr id="25" name="Sketch Project page" descr="Hand-drawn wireframe of a project page: logo, info banner, project details box beside an image, a cycling list of info cards, updates and a More button"/>
          <p:cNvPicPr>
            <a:picLocks noChangeAspect="1"/>
          </p:cNvPicPr>
          <p:nvPr/>
        </p:nvPicPr>
        <p:blipFill>
          <a:blip r:embed="rId8"/>
          <a:stretch>
            <a:fillRect/>
          </a:stretch>
        </p:blipFill>
        <p:spPr>
          <a:xfrm>
            <a:off x="2966045" y="1944193"/>
            <a:ext cx="1972337" cy="2502096"/>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F6E6E"/>
                </a:solidFill>
                <a:latin typeface="Public Sans" pitchFamily="34" charset="0"/>
                <a:ea typeface="Public Sans" pitchFamily="34" charset="-122"/>
                <a:cs typeface="Public Sans" pitchFamily="34" charset="-120"/>
              </a:rPr>
              <a:t>DESIGN IDEAS BEHIND THE SKETCHES</a:t>
            </a:r>
            <a:endParaRPr lang="en-US" sz="1200" dirty="0"/>
          </a:p>
        </p:txBody>
      </p:sp>
      <p:sp>
        <p:nvSpPr>
          <p:cNvPr id="3" name="Text 1"/>
          <p:cNvSpPr/>
          <p:nvPr>
            <p:ph type="title"/>
          </p:nvPr>
        </p:nvSpPr>
        <p:spPr>
          <a:xfrm>
            <a:off x="812800" y="11277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F2A33"/>
                </a:solidFill>
                <a:latin typeface="Source Serif 4" pitchFamily="18" charset="0"/>
                <a:ea typeface="Source Serif 4" pitchFamily="18" charset="-122"/>
                <a:cs typeface="Source Serif 4" pitchFamily="18" charset="-120"/>
              </a:rPr>
              <a:t>People-centred design in our prototypes</a:t>
            </a:r>
            <a:endParaRPr lang="en-US" sz="3200" dirty="0"/>
          </a:p>
        </p:txBody>
      </p:sp>
      <p:sp>
        <p:nvSpPr>
          <p:cNvPr id="4" name="Shape 2"/>
          <p:cNvSpPr/>
          <p:nvPr/>
        </p:nvSpPr>
        <p:spPr>
          <a:xfrm>
            <a:off x="815975" y="1801416"/>
            <a:ext cx="3380317" cy="2272771"/>
          </a:xfrm>
          <a:prstGeom prst="roundRect">
            <a:avLst>
              <a:gd name="adj" fmla="val 4331"/>
            </a:avLst>
          </a:prstGeom>
          <a:solidFill>
            <a:srgbClr val="FFFDF9"/>
          </a:solidFill>
          <a:ln w="6350">
            <a:solidFill>
              <a:srgbClr val="E2DCD1"/>
            </a:solidFill>
            <a:prstDash val="solid"/>
          </a:ln>
        </p:spPr>
      </p:sp>
      <p:sp>
        <p:nvSpPr>
          <p:cNvPr id="5" name="Text 3"/>
          <p:cNvSpPr/>
          <p:nvPr/>
        </p:nvSpPr>
        <p:spPr>
          <a:xfrm>
            <a:off x="1071033" y="2056476"/>
            <a:ext cx="392113" cy="289520"/>
          </a:xfrm>
          <a:custGeom>
            <a:avLst/>
            <a:gdLst/>
            <a:ahLst/>
            <a:cxnLst/>
            <a:rect l="l" t="t" r="r" b="b"/>
            <a:pathLst>
              <a:path w="392113" h="289520">
                <a:moveTo>
                  <a:pt x="144760" y="0"/>
                </a:moveTo>
                <a:lnTo>
                  <a:pt x="247352" y="0"/>
                </a:lnTo>
                <a:arcTo hR="144760" wR="144760" stAng="16200000" swAng="5400000"/>
                <a:lnTo>
                  <a:pt x="392113" y="144760"/>
                </a:lnTo>
                <a:arcTo hR="144760" wR="144760" stAng="0" swAng="5400000"/>
                <a:lnTo>
                  <a:pt x="144760" y="289520"/>
                </a:lnTo>
                <a:arcTo hR="144760" wR="144760" stAng="5400000" swAng="5400000"/>
                <a:lnTo>
                  <a:pt x="0" y="144760"/>
                </a:lnTo>
                <a:arcTo hR="144760" wR="144760" stAng="10800000" swAng="5400000"/>
                <a:close/>
              </a:path>
            </a:pathLst>
          </a:custGeom>
          <a:solidFill>
            <a:srgbClr val="DCEFEA"/>
          </a:solidFill>
          <a:ln/>
        </p:spPr>
        <p:txBody>
          <a:bodyPr wrap="none" lIns="0" tIns="0" rIns="0" bIns="0" rtlCol="0" anchor="ctr">
            <a:normAutofit/>
          </a:bodyPr>
          <a:lstStyle/>
          <a:p>
            <a:pPr algn="ctr" indent="0" marL="0">
              <a:lnSpc>
                <a:spcPts val="1680"/>
              </a:lnSpc>
              <a:buNone/>
            </a:pPr>
            <a:r>
              <a:rPr lang="en-US" sz="1200" b="1" dirty="0">
                <a:solidFill>
                  <a:srgbClr val="0F6E6E"/>
                </a:solidFill>
                <a:latin typeface="Public Sans" pitchFamily="34" charset="0"/>
                <a:ea typeface="Public Sans" pitchFamily="34" charset="-122"/>
                <a:cs typeface="Public Sans" pitchFamily="34" charset="-120"/>
              </a:rPr>
              <a:t>01</a:t>
            </a:r>
            <a:endParaRPr lang="en-US" sz="1200" dirty="0"/>
          </a:p>
        </p:txBody>
      </p:sp>
      <p:sp>
        <p:nvSpPr>
          <p:cNvPr id="6" name="Text 4"/>
          <p:cNvSpPr/>
          <p:nvPr/>
        </p:nvSpPr>
        <p:spPr>
          <a:xfrm>
            <a:off x="1071033" y="2447596"/>
            <a:ext cx="2956306"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F2A33"/>
                </a:solidFill>
                <a:latin typeface="Public Sans" pitchFamily="34" charset="0"/>
                <a:ea typeface="Public Sans" pitchFamily="34" charset="-122"/>
                <a:cs typeface="Public Sans" pitchFamily="34" charset="-120"/>
              </a:rPr>
              <a:t>Affordances &amp; signifiers</a:t>
            </a:r>
            <a:endParaRPr lang="en-US" sz="1800" dirty="0"/>
          </a:p>
        </p:txBody>
      </p:sp>
      <p:sp>
        <p:nvSpPr>
          <p:cNvPr id="7" name="Text 5"/>
          <p:cNvSpPr/>
          <p:nvPr/>
        </p:nvSpPr>
        <p:spPr>
          <a:xfrm>
            <a:off x="1071033" y="2823505"/>
            <a:ext cx="2956306" cy="7721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0"/>
                </a:solidFill>
                <a:latin typeface="Public Sans" pitchFamily="34" charset="0"/>
                <a:ea typeface="Public Sans" pitchFamily="34" charset="-122"/>
                <a:cs typeface="Public Sans" pitchFamily="34" charset="-120"/>
              </a:rPr>
              <a:t>Buttons look clickable, and a ↗ marks links that leave for the main APSS site or reportneedles.ca.</a:t>
            </a:r>
            <a:endParaRPr lang="en-US" sz="1400" dirty="0"/>
          </a:p>
        </p:txBody>
      </p:sp>
      <p:sp>
        <p:nvSpPr>
          <p:cNvPr id="8" name="Shape 6"/>
          <p:cNvSpPr/>
          <p:nvPr/>
        </p:nvSpPr>
        <p:spPr>
          <a:xfrm>
            <a:off x="4405842" y="1801416"/>
            <a:ext cx="3380317" cy="2272771"/>
          </a:xfrm>
          <a:prstGeom prst="roundRect">
            <a:avLst>
              <a:gd name="adj" fmla="val 4331"/>
            </a:avLst>
          </a:prstGeom>
          <a:solidFill>
            <a:srgbClr val="FFFDF9"/>
          </a:solidFill>
          <a:ln w="6350">
            <a:solidFill>
              <a:srgbClr val="E2DCD1"/>
            </a:solidFill>
            <a:prstDash val="solid"/>
          </a:ln>
        </p:spPr>
      </p:sp>
      <p:sp>
        <p:nvSpPr>
          <p:cNvPr id="9" name="Text 7"/>
          <p:cNvSpPr/>
          <p:nvPr/>
        </p:nvSpPr>
        <p:spPr>
          <a:xfrm>
            <a:off x="4660900" y="2056476"/>
            <a:ext cx="423598" cy="289520"/>
          </a:xfrm>
          <a:custGeom>
            <a:avLst/>
            <a:gdLst/>
            <a:ahLst/>
            <a:cxnLst/>
            <a:rect l="l" t="t" r="r" b="b"/>
            <a:pathLst>
              <a:path w="423598" h="289520">
                <a:moveTo>
                  <a:pt x="144760" y="0"/>
                </a:moveTo>
                <a:lnTo>
                  <a:pt x="278838" y="0"/>
                </a:lnTo>
                <a:arcTo hR="144760" wR="144760" stAng="16200000" swAng="5400000"/>
                <a:lnTo>
                  <a:pt x="423598" y="144760"/>
                </a:lnTo>
                <a:arcTo hR="144760" wR="144760" stAng="0" swAng="5400000"/>
                <a:lnTo>
                  <a:pt x="144760" y="289520"/>
                </a:lnTo>
                <a:arcTo hR="144760" wR="144760" stAng="5400000" swAng="5400000"/>
                <a:lnTo>
                  <a:pt x="0" y="144760"/>
                </a:lnTo>
                <a:arcTo hR="144760" wR="144760" stAng="10800000" swAng="5400000"/>
                <a:close/>
              </a:path>
            </a:pathLst>
          </a:custGeom>
          <a:solidFill>
            <a:srgbClr val="DCEFEA"/>
          </a:solidFill>
          <a:ln/>
        </p:spPr>
        <p:txBody>
          <a:bodyPr wrap="none" lIns="0" tIns="0" rIns="0" bIns="0" rtlCol="0" anchor="ctr">
            <a:normAutofit/>
          </a:bodyPr>
          <a:lstStyle/>
          <a:p>
            <a:pPr algn="ctr" indent="0" marL="0">
              <a:lnSpc>
                <a:spcPts val="1680"/>
              </a:lnSpc>
              <a:buNone/>
            </a:pPr>
            <a:r>
              <a:rPr lang="en-US" sz="1200" b="1" dirty="0">
                <a:solidFill>
                  <a:srgbClr val="0F6E6E"/>
                </a:solidFill>
                <a:latin typeface="Public Sans" pitchFamily="34" charset="0"/>
                <a:ea typeface="Public Sans" pitchFamily="34" charset="-122"/>
                <a:cs typeface="Public Sans" pitchFamily="34" charset="-120"/>
              </a:rPr>
              <a:t>02</a:t>
            </a:r>
            <a:endParaRPr lang="en-US" sz="1200" dirty="0"/>
          </a:p>
        </p:txBody>
      </p:sp>
      <p:sp>
        <p:nvSpPr>
          <p:cNvPr id="10" name="Text 8"/>
          <p:cNvSpPr/>
          <p:nvPr/>
        </p:nvSpPr>
        <p:spPr>
          <a:xfrm>
            <a:off x="4660900" y="2447596"/>
            <a:ext cx="2956306"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F2A33"/>
                </a:solidFill>
                <a:latin typeface="Public Sans" pitchFamily="34" charset="0"/>
                <a:ea typeface="Public Sans" pitchFamily="34" charset="-122"/>
                <a:cs typeface="Public Sans" pitchFamily="34" charset="-120"/>
              </a:rPr>
              <a:t>Gestalt</a:t>
            </a:r>
            <a:endParaRPr lang="en-US" sz="1800" dirty="0"/>
          </a:p>
        </p:txBody>
      </p:sp>
      <p:sp>
        <p:nvSpPr>
          <p:cNvPr id="11" name="Text 9"/>
          <p:cNvSpPr/>
          <p:nvPr/>
        </p:nvSpPr>
        <p:spPr>
          <a:xfrm>
            <a:off x="4660900" y="2823505"/>
            <a:ext cx="2956306" cy="102102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0"/>
                </a:solidFill>
                <a:latin typeface="Public Sans" pitchFamily="34" charset="0"/>
                <a:ea typeface="Public Sans" pitchFamily="34" charset="-122"/>
                <a:cs typeface="Public Sans" pitchFamily="34" charset="-120"/>
              </a:rPr>
              <a:t>Project cards share one structure (image, title, status), and related content sits in boxed areas, so groups read together.</a:t>
            </a:r>
            <a:endParaRPr lang="en-US" sz="1400" dirty="0"/>
          </a:p>
        </p:txBody>
      </p:sp>
      <p:sp>
        <p:nvSpPr>
          <p:cNvPr id="12" name="Shape 10"/>
          <p:cNvSpPr/>
          <p:nvPr/>
        </p:nvSpPr>
        <p:spPr>
          <a:xfrm>
            <a:off x="7995709" y="1801416"/>
            <a:ext cx="3380317" cy="2272771"/>
          </a:xfrm>
          <a:prstGeom prst="roundRect">
            <a:avLst>
              <a:gd name="adj" fmla="val 4331"/>
            </a:avLst>
          </a:prstGeom>
          <a:solidFill>
            <a:srgbClr val="FFFDF9"/>
          </a:solidFill>
          <a:ln w="6350">
            <a:solidFill>
              <a:srgbClr val="E2DCD1"/>
            </a:solidFill>
            <a:prstDash val="solid"/>
          </a:ln>
        </p:spPr>
      </p:sp>
      <p:sp>
        <p:nvSpPr>
          <p:cNvPr id="13" name="Text 11"/>
          <p:cNvSpPr/>
          <p:nvPr/>
        </p:nvSpPr>
        <p:spPr>
          <a:xfrm>
            <a:off x="8250767" y="2056476"/>
            <a:ext cx="427699" cy="289520"/>
          </a:xfrm>
          <a:custGeom>
            <a:avLst/>
            <a:gdLst/>
            <a:ahLst/>
            <a:cxnLst/>
            <a:rect l="l" t="t" r="r" b="b"/>
            <a:pathLst>
              <a:path w="427699" h="289520">
                <a:moveTo>
                  <a:pt x="144760" y="0"/>
                </a:moveTo>
                <a:lnTo>
                  <a:pt x="282939" y="0"/>
                </a:lnTo>
                <a:arcTo hR="144760" wR="144760" stAng="16200000" swAng="5400000"/>
                <a:lnTo>
                  <a:pt x="427699" y="144760"/>
                </a:lnTo>
                <a:arcTo hR="144760" wR="144760" stAng="0" swAng="5400000"/>
                <a:lnTo>
                  <a:pt x="144760" y="289520"/>
                </a:lnTo>
                <a:arcTo hR="144760" wR="144760" stAng="5400000" swAng="5400000"/>
                <a:lnTo>
                  <a:pt x="0" y="144760"/>
                </a:lnTo>
                <a:arcTo hR="144760" wR="144760" stAng="10800000" swAng="5400000"/>
                <a:close/>
              </a:path>
            </a:pathLst>
          </a:custGeom>
          <a:solidFill>
            <a:srgbClr val="DCEFEA"/>
          </a:solidFill>
          <a:ln/>
        </p:spPr>
        <p:txBody>
          <a:bodyPr wrap="none" lIns="0" tIns="0" rIns="0" bIns="0" rtlCol="0" anchor="ctr">
            <a:normAutofit/>
          </a:bodyPr>
          <a:lstStyle/>
          <a:p>
            <a:pPr algn="ctr" indent="0" marL="0">
              <a:lnSpc>
                <a:spcPts val="1680"/>
              </a:lnSpc>
              <a:buNone/>
            </a:pPr>
            <a:r>
              <a:rPr lang="en-US" sz="1200" b="1" dirty="0">
                <a:solidFill>
                  <a:srgbClr val="0F6E6E"/>
                </a:solidFill>
                <a:latin typeface="Public Sans" pitchFamily="34" charset="0"/>
                <a:ea typeface="Public Sans" pitchFamily="34" charset="-122"/>
                <a:cs typeface="Public Sans" pitchFamily="34" charset="-120"/>
              </a:rPr>
              <a:t>03</a:t>
            </a:r>
            <a:endParaRPr lang="en-US" sz="1200" dirty="0"/>
          </a:p>
        </p:txBody>
      </p:sp>
      <p:sp>
        <p:nvSpPr>
          <p:cNvPr id="14" name="Text 12"/>
          <p:cNvSpPr/>
          <p:nvPr/>
        </p:nvSpPr>
        <p:spPr>
          <a:xfrm>
            <a:off x="8250767" y="2447596"/>
            <a:ext cx="2956306"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F2A33"/>
                </a:solidFill>
                <a:latin typeface="Public Sans" pitchFamily="34" charset="0"/>
                <a:ea typeface="Public Sans" pitchFamily="34" charset="-122"/>
                <a:cs typeface="Public Sans" pitchFamily="34" charset="-120"/>
              </a:rPr>
              <a:t>Constraints</a:t>
            </a:r>
            <a:endParaRPr lang="en-US" sz="1800" dirty="0"/>
          </a:p>
        </p:txBody>
      </p:sp>
      <p:sp>
        <p:nvSpPr>
          <p:cNvPr id="15" name="Text 13"/>
          <p:cNvSpPr/>
          <p:nvPr/>
        </p:nvSpPr>
        <p:spPr>
          <a:xfrm>
            <a:off x="8250767" y="2823505"/>
            <a:ext cx="2956306" cy="7721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0"/>
                </a:solidFill>
                <a:latin typeface="Public Sans" pitchFamily="34" charset="0"/>
                <a:ea typeface="Public Sans" pitchFamily="34" charset="-122"/>
                <a:cs typeface="Public Sans" pitchFamily="34" charset="-120"/>
              </a:rPr>
              <a:t>A short main menu keeps the paths clear, and project filters only offer categories that exist.</a:t>
            </a:r>
            <a:endParaRPr lang="en-US" sz="1400" dirty="0"/>
          </a:p>
        </p:txBody>
      </p:sp>
      <p:sp>
        <p:nvSpPr>
          <p:cNvPr id="16" name="Text 14"/>
          <p:cNvSpPr/>
          <p:nvPr/>
        </p:nvSpPr>
        <p:spPr>
          <a:xfrm>
            <a:off x="812800" y="4280564"/>
            <a:ext cx="10883392" cy="27430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4A5560"/>
                </a:solidFill>
                <a:latin typeface="Public Sans" pitchFamily="34" charset="0"/>
                <a:ea typeface="Public Sans" pitchFamily="34" charset="-122"/>
                <a:cs typeface="Public Sans" pitchFamily="34" charset="-120"/>
              </a:rPr>
              <a:t>Also in play:</a:t>
            </a:r>
            <a:r>
              <a:rPr lang="en-US" sz="1400" dirty="0">
                <a:solidFill>
                  <a:srgbClr val="4A5560"/>
                </a:solidFill>
                <a:latin typeface="Public Sans" pitchFamily="34" charset="0"/>
                <a:ea typeface="Public Sans" pitchFamily="34" charset="-122"/>
                <a:cs typeface="Public Sans" pitchFamily="34" charset="-120"/>
              </a:rPr>
              <a:t> consistency (the same header on every page) and feedback (the current page is highlighted in the menu).</a:t>
            </a:r>
            <a:endParaRPr lang="en-US" sz="1400" dirty="0"/>
          </a:p>
        </p:txBody>
      </p:sp>
      <p:sp>
        <p:nvSpPr>
          <p:cNvPr id="17" name="Text 15"/>
          <p:cNvSpPr/>
          <p:nvPr/>
        </p:nvSpPr>
        <p:spPr>
          <a:xfrm>
            <a:off x="812800" y="6238280"/>
            <a:ext cx="390183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872"/>
                </a:solidFill>
                <a:latin typeface="Public Sans" pitchFamily="34" charset="0"/>
                <a:ea typeface="Public Sans" pitchFamily="34" charset="-122"/>
                <a:cs typeface="Public Sans" pitchFamily="34" charset="-120"/>
              </a:rPr>
              <a:t>APSS Research Website · Customer check-in 1</a:t>
            </a:r>
            <a:endParaRPr lang="en-US" sz="1200" dirty="0"/>
          </a:p>
        </p:txBody>
      </p:sp>
      <p:sp>
        <p:nvSpPr>
          <p:cNvPr id="18" name="Text 16"/>
          <p:cNvSpPr/>
          <p:nvPr/>
        </p:nvSpPr>
        <p:spPr>
          <a:xfrm>
            <a:off x="11233217" y="6238280"/>
            <a:ext cx="145984"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872"/>
                </a:solidFill>
                <a:latin typeface="Public Sans" pitchFamily="34" charset="0"/>
                <a:ea typeface="Public Sans" pitchFamily="34" charset="-122"/>
                <a:cs typeface="Public Sans" pitchFamily="34" charset="-120"/>
              </a:rPr>
              <a:t>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F6E6E"/>
                </a:solidFill>
                <a:latin typeface="Public Sans" pitchFamily="34" charset="0"/>
                <a:ea typeface="Public Sans" pitchFamily="34" charset="-122"/>
                <a:cs typeface="Public Sans" pitchFamily="34" charset="-120"/>
              </a:rPr>
              <a:t>USER STORY MAP</a:t>
            </a:r>
            <a:endParaRPr lang="en-US" sz="1200" dirty="0"/>
          </a:p>
        </p:txBody>
      </p:sp>
      <p:sp>
        <p:nvSpPr>
          <p:cNvPr id="3" name="Text 1"/>
          <p:cNvSpPr/>
          <p:nvPr>
            <p:ph type="title"/>
          </p:nvPr>
        </p:nvSpPr>
        <p:spPr>
          <a:xfrm>
            <a:off x="812800" y="11277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F2A33"/>
                </a:solidFill>
                <a:latin typeface="Source Serif 4" pitchFamily="18" charset="0"/>
                <a:ea typeface="Source Serif 4" pitchFamily="18" charset="-122"/>
                <a:cs typeface="Source Serif 4" pitchFamily="18" charset="-120"/>
              </a:rPr>
              <a:t>From visitor goals to MVP releases</a:t>
            </a:r>
            <a:endParaRPr lang="en-US" sz="3200" dirty="0"/>
          </a:p>
        </p:txBody>
      </p:sp>
      <p:sp>
        <p:nvSpPr>
          <p:cNvPr id="4" name="Text 2"/>
          <p:cNvSpPr/>
          <p:nvPr/>
        </p:nvSpPr>
        <p:spPr>
          <a:xfrm>
            <a:off x="812800" y="1823641"/>
            <a:ext cx="10668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F2A33"/>
                </a:solidFill>
                <a:latin typeface="Public Sans" pitchFamily="34" charset="0"/>
                <a:ea typeface="Public Sans" pitchFamily="34" charset="-122"/>
                <a:cs typeface="Public Sans" pitchFamily="34" charset="-120"/>
              </a:rPr>
              <a:t>Activities</a:t>
            </a:r>
            <a:endParaRPr lang="en-US" sz="1200" dirty="0"/>
          </a:p>
        </p:txBody>
      </p:sp>
      <p:sp>
        <p:nvSpPr>
          <p:cNvPr id="5" name="Text 3"/>
          <p:cNvSpPr/>
          <p:nvPr/>
        </p:nvSpPr>
        <p:spPr>
          <a:xfrm>
            <a:off x="1917700" y="1747441"/>
            <a:ext cx="1502833" cy="533400"/>
          </a:xfrm>
          <a:prstGeom prst="roundRect">
            <a:avLst>
              <a:gd name="adj" fmla="val 9524"/>
            </a:avLst>
          </a:prstGeom>
          <a:solidFill>
            <a:srgbClr val="FFD3A8"/>
          </a:solidFill>
          <a:ln/>
        </p:spPr>
        <p:txBody>
          <a:bodyPr wrap="square" lIns="74021" tIns="61321" rIns="23221" bIns="35921" rtlCol="0" anchor="t">
            <a:normAutofit/>
          </a:bodyPr>
          <a:lstStyle/>
          <a:p>
            <a:pPr algn="l" indent="0" marL="0">
              <a:lnSpc>
                <a:spcPts val="1500"/>
              </a:lnSpc>
              <a:buNone/>
            </a:pPr>
            <a:r>
              <a:rPr lang="en-US" sz="1200" b="1" dirty="0">
                <a:solidFill>
                  <a:srgbClr val="1F2A33"/>
                </a:solidFill>
                <a:latin typeface="Public Sans" pitchFamily="34" charset="0"/>
                <a:ea typeface="Public Sans" pitchFamily="34" charset="-122"/>
                <a:cs typeface="Public Sans" pitchFamily="34" charset="-120"/>
              </a:rPr>
              <a:t>Discover Research</a:t>
            </a:r>
            <a:endParaRPr lang="en-US" sz="1200" dirty="0"/>
          </a:p>
        </p:txBody>
      </p:sp>
      <p:sp>
        <p:nvSpPr>
          <p:cNvPr id="6" name="Text 4"/>
          <p:cNvSpPr/>
          <p:nvPr/>
        </p:nvSpPr>
        <p:spPr>
          <a:xfrm>
            <a:off x="3509433" y="1747441"/>
            <a:ext cx="1502833" cy="342900"/>
          </a:xfrm>
          <a:prstGeom prst="roundRect">
            <a:avLst>
              <a:gd name="adj" fmla="val 14815"/>
            </a:avLst>
          </a:prstGeom>
          <a:solidFill>
            <a:srgbClr val="FFD3A8"/>
          </a:solidFill>
          <a:ln/>
        </p:spPr>
        <p:txBody>
          <a:bodyPr wrap="square" lIns="74021" tIns="61321" rIns="23221" bIns="35921" rtlCol="0" anchor="t">
            <a:normAutofit/>
          </a:bodyPr>
          <a:lstStyle/>
          <a:p>
            <a:pPr algn="l" indent="0" marL="0">
              <a:lnSpc>
                <a:spcPts val="1500"/>
              </a:lnSpc>
              <a:buNone/>
            </a:pPr>
            <a:r>
              <a:rPr lang="en-US" sz="1200" b="1" dirty="0">
                <a:solidFill>
                  <a:srgbClr val="1F2A33"/>
                </a:solidFill>
                <a:latin typeface="Public Sans" pitchFamily="34" charset="0"/>
                <a:ea typeface="Public Sans" pitchFamily="34" charset="-122"/>
                <a:cs typeface="Public Sans" pitchFamily="34" charset="-120"/>
              </a:rPr>
              <a:t>Browse Projects</a:t>
            </a:r>
            <a:endParaRPr lang="en-US" sz="1200" dirty="0"/>
          </a:p>
        </p:txBody>
      </p:sp>
      <p:sp>
        <p:nvSpPr>
          <p:cNvPr id="7" name="Text 5"/>
          <p:cNvSpPr/>
          <p:nvPr/>
        </p:nvSpPr>
        <p:spPr>
          <a:xfrm>
            <a:off x="5101167" y="1747441"/>
            <a:ext cx="1502833" cy="533400"/>
          </a:xfrm>
          <a:prstGeom prst="roundRect">
            <a:avLst>
              <a:gd name="adj" fmla="val 9524"/>
            </a:avLst>
          </a:prstGeom>
          <a:solidFill>
            <a:srgbClr val="FFD3A8"/>
          </a:solidFill>
          <a:ln/>
        </p:spPr>
        <p:txBody>
          <a:bodyPr wrap="square" lIns="74021" tIns="61321" rIns="23221" bIns="35921" rtlCol="0" anchor="t">
            <a:normAutofit/>
          </a:bodyPr>
          <a:lstStyle/>
          <a:p>
            <a:pPr algn="l" indent="0" marL="0">
              <a:lnSpc>
                <a:spcPts val="1500"/>
              </a:lnSpc>
              <a:buNone/>
            </a:pPr>
            <a:r>
              <a:rPr lang="en-US" sz="1200" b="1" dirty="0">
                <a:solidFill>
                  <a:srgbClr val="1F2A33"/>
                </a:solidFill>
                <a:latin typeface="Public Sans" pitchFamily="34" charset="0"/>
                <a:ea typeface="Public Sans" pitchFamily="34" charset="-122"/>
                <a:cs typeface="Public Sans" pitchFamily="34" charset="-120"/>
              </a:rPr>
              <a:t>Understand Project</a:t>
            </a:r>
            <a:endParaRPr lang="en-US" sz="1200" dirty="0"/>
          </a:p>
        </p:txBody>
      </p:sp>
      <p:sp>
        <p:nvSpPr>
          <p:cNvPr id="8" name="Text 6"/>
          <p:cNvSpPr/>
          <p:nvPr/>
        </p:nvSpPr>
        <p:spPr>
          <a:xfrm>
            <a:off x="6692900" y="1747441"/>
            <a:ext cx="1502833" cy="342900"/>
          </a:xfrm>
          <a:prstGeom prst="roundRect">
            <a:avLst>
              <a:gd name="adj" fmla="val 14815"/>
            </a:avLst>
          </a:prstGeom>
          <a:solidFill>
            <a:srgbClr val="FFD3A8"/>
          </a:solidFill>
          <a:ln/>
        </p:spPr>
        <p:txBody>
          <a:bodyPr wrap="square" lIns="74021" tIns="61321" rIns="23221" bIns="35921" rtlCol="0" anchor="t">
            <a:normAutofit/>
          </a:bodyPr>
          <a:lstStyle/>
          <a:p>
            <a:pPr algn="l" indent="0" marL="0">
              <a:lnSpc>
                <a:spcPts val="1500"/>
              </a:lnSpc>
              <a:buNone/>
            </a:pPr>
            <a:r>
              <a:rPr lang="en-US" sz="1200" b="1" dirty="0">
                <a:solidFill>
                  <a:srgbClr val="1F2A33"/>
                </a:solidFill>
                <a:latin typeface="Public Sans" pitchFamily="34" charset="0"/>
                <a:ea typeface="Public Sans" pitchFamily="34" charset="-122"/>
                <a:cs typeface="Public Sans" pitchFamily="34" charset="-120"/>
              </a:rPr>
              <a:t>Access Materials</a:t>
            </a:r>
            <a:endParaRPr lang="en-US" sz="1200" dirty="0"/>
          </a:p>
        </p:txBody>
      </p:sp>
      <p:sp>
        <p:nvSpPr>
          <p:cNvPr id="9" name="Text 7"/>
          <p:cNvSpPr/>
          <p:nvPr/>
        </p:nvSpPr>
        <p:spPr>
          <a:xfrm>
            <a:off x="8284634" y="1747441"/>
            <a:ext cx="1502833" cy="342900"/>
          </a:xfrm>
          <a:prstGeom prst="roundRect">
            <a:avLst>
              <a:gd name="adj" fmla="val 14815"/>
            </a:avLst>
          </a:prstGeom>
          <a:solidFill>
            <a:srgbClr val="FFD3A8"/>
          </a:solidFill>
          <a:ln/>
        </p:spPr>
        <p:txBody>
          <a:bodyPr wrap="square" lIns="74021" tIns="61321" rIns="23221" bIns="35921" rtlCol="0" anchor="t">
            <a:normAutofit/>
          </a:bodyPr>
          <a:lstStyle/>
          <a:p>
            <a:pPr algn="l" indent="0" marL="0">
              <a:lnSpc>
                <a:spcPts val="1500"/>
              </a:lnSpc>
              <a:buNone/>
            </a:pPr>
            <a:r>
              <a:rPr lang="en-US" sz="1200" b="1" dirty="0">
                <a:solidFill>
                  <a:srgbClr val="1F2A33"/>
                </a:solidFill>
                <a:latin typeface="Public Sans" pitchFamily="34" charset="0"/>
                <a:ea typeface="Public Sans" pitchFamily="34" charset="-122"/>
                <a:cs typeface="Public Sans" pitchFamily="34" charset="-120"/>
              </a:rPr>
              <a:t>Follow Updates</a:t>
            </a:r>
            <a:endParaRPr lang="en-US" sz="1200" dirty="0"/>
          </a:p>
        </p:txBody>
      </p:sp>
      <p:sp>
        <p:nvSpPr>
          <p:cNvPr id="10" name="Text 8"/>
          <p:cNvSpPr/>
          <p:nvPr/>
        </p:nvSpPr>
        <p:spPr>
          <a:xfrm>
            <a:off x="9876367" y="1747441"/>
            <a:ext cx="1502833" cy="342900"/>
          </a:xfrm>
          <a:prstGeom prst="roundRect">
            <a:avLst>
              <a:gd name="adj" fmla="val 14815"/>
            </a:avLst>
          </a:prstGeom>
          <a:solidFill>
            <a:srgbClr val="FFD3A8"/>
          </a:solidFill>
          <a:ln/>
        </p:spPr>
        <p:txBody>
          <a:bodyPr wrap="square" lIns="74021" tIns="61321" rIns="23221" bIns="35921" rtlCol="0" anchor="t">
            <a:normAutofit/>
          </a:bodyPr>
          <a:lstStyle/>
          <a:p>
            <a:pPr algn="l" indent="0" marL="0">
              <a:lnSpc>
                <a:spcPts val="1500"/>
              </a:lnSpc>
              <a:buNone/>
            </a:pPr>
            <a:r>
              <a:rPr lang="en-US" sz="1200" b="1" dirty="0">
                <a:solidFill>
                  <a:srgbClr val="1F2A33"/>
                </a:solidFill>
                <a:latin typeface="Public Sans" pitchFamily="34" charset="0"/>
                <a:ea typeface="Public Sans" pitchFamily="34" charset="-122"/>
                <a:cs typeface="Public Sans" pitchFamily="34" charset="-120"/>
              </a:rPr>
              <a:t>Connect Sites</a:t>
            </a:r>
            <a:endParaRPr lang="en-US" sz="1200" dirty="0"/>
          </a:p>
        </p:txBody>
      </p:sp>
      <p:sp>
        <p:nvSpPr>
          <p:cNvPr id="11" name="Text 9"/>
          <p:cNvSpPr/>
          <p:nvPr/>
        </p:nvSpPr>
        <p:spPr>
          <a:xfrm>
            <a:off x="812800" y="2445941"/>
            <a:ext cx="10668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F2A33"/>
                </a:solidFill>
                <a:latin typeface="Public Sans" pitchFamily="34" charset="0"/>
                <a:ea typeface="Public Sans" pitchFamily="34" charset="-122"/>
                <a:cs typeface="Public Sans" pitchFamily="34" charset="-120"/>
              </a:rPr>
              <a:t>Tasks</a:t>
            </a:r>
            <a:endParaRPr lang="en-US" sz="1200" dirty="0"/>
          </a:p>
        </p:txBody>
      </p:sp>
      <p:sp>
        <p:nvSpPr>
          <p:cNvPr id="12" name="Text 10"/>
          <p:cNvSpPr/>
          <p:nvPr/>
        </p:nvSpPr>
        <p:spPr>
          <a:xfrm>
            <a:off x="1917700" y="2369741"/>
            <a:ext cx="1502833" cy="342900"/>
          </a:xfrm>
          <a:prstGeom prst="roundRect">
            <a:avLst>
              <a:gd name="adj" fmla="val 14815"/>
            </a:avLst>
          </a:prstGeom>
          <a:solidFill>
            <a:srgbClr val="A8DAFF"/>
          </a:solidFill>
          <a:ln/>
        </p:spPr>
        <p:txBody>
          <a:bodyPr wrap="square" lIns="74021" tIns="61321" rIns="23221" bIns="35921" rtlCol="0" anchor="t">
            <a:normAutofit/>
          </a:bodyPr>
          <a:lstStyle/>
          <a:p>
            <a:pPr algn="l" indent="0" marL="0">
              <a:lnSpc>
                <a:spcPts val="1500"/>
              </a:lnSpc>
              <a:buNone/>
            </a:pPr>
            <a:r>
              <a:rPr lang="en-US" sz="1200" dirty="0">
                <a:solidFill>
                  <a:srgbClr val="1F2A33"/>
                </a:solidFill>
                <a:latin typeface="Public Sans" pitchFamily="34" charset="0"/>
                <a:ea typeface="Public Sans" pitchFamily="34" charset="-122"/>
                <a:cs typeface="Public Sans" pitchFamily="34" charset="-120"/>
              </a:rPr>
              <a:t>What is this site?</a:t>
            </a:r>
            <a:endParaRPr lang="en-US" sz="1200" dirty="0"/>
          </a:p>
        </p:txBody>
      </p:sp>
      <p:sp>
        <p:nvSpPr>
          <p:cNvPr id="13" name="Text 11"/>
          <p:cNvSpPr/>
          <p:nvPr/>
        </p:nvSpPr>
        <p:spPr>
          <a:xfrm>
            <a:off x="1917700" y="2763441"/>
            <a:ext cx="1502833" cy="342900"/>
          </a:xfrm>
          <a:prstGeom prst="roundRect">
            <a:avLst>
              <a:gd name="adj" fmla="val 14815"/>
            </a:avLst>
          </a:prstGeom>
          <a:solidFill>
            <a:srgbClr val="A8DAFF"/>
          </a:solidFill>
          <a:ln/>
        </p:spPr>
        <p:txBody>
          <a:bodyPr wrap="square" lIns="74021" tIns="61321" rIns="23221" bIns="35921" rtlCol="0" anchor="t">
            <a:normAutofit/>
          </a:bodyPr>
          <a:lstStyle/>
          <a:p>
            <a:pPr algn="l" indent="0" marL="0">
              <a:lnSpc>
                <a:spcPts val="1500"/>
              </a:lnSpc>
              <a:buNone/>
            </a:pPr>
            <a:r>
              <a:rPr lang="en-US" sz="1200" dirty="0">
                <a:solidFill>
                  <a:srgbClr val="1F2A33"/>
                </a:solidFill>
                <a:latin typeface="Public Sans" pitchFamily="34" charset="0"/>
                <a:ea typeface="Public Sans" pitchFamily="34" charset="-122"/>
                <a:cs typeface="Public Sans" pitchFamily="34" charset="-120"/>
              </a:rPr>
              <a:t>Find research</a:t>
            </a:r>
            <a:endParaRPr lang="en-US" sz="1200" dirty="0"/>
          </a:p>
        </p:txBody>
      </p:sp>
      <p:sp>
        <p:nvSpPr>
          <p:cNvPr id="14" name="Text 12"/>
          <p:cNvSpPr/>
          <p:nvPr/>
        </p:nvSpPr>
        <p:spPr>
          <a:xfrm>
            <a:off x="3509433" y="2369741"/>
            <a:ext cx="1502833" cy="342900"/>
          </a:xfrm>
          <a:prstGeom prst="roundRect">
            <a:avLst>
              <a:gd name="adj" fmla="val 14815"/>
            </a:avLst>
          </a:prstGeom>
          <a:solidFill>
            <a:srgbClr val="A8DAFF"/>
          </a:solidFill>
          <a:ln/>
        </p:spPr>
        <p:txBody>
          <a:bodyPr wrap="square" lIns="74021" tIns="61321" rIns="23221" bIns="35921" rtlCol="0" anchor="t">
            <a:normAutofit/>
          </a:bodyPr>
          <a:lstStyle/>
          <a:p>
            <a:pPr algn="l" indent="0" marL="0">
              <a:lnSpc>
                <a:spcPts val="1500"/>
              </a:lnSpc>
              <a:buNone/>
            </a:pPr>
            <a:r>
              <a:rPr lang="en-US" sz="1200" dirty="0">
                <a:solidFill>
                  <a:srgbClr val="1F2A33"/>
                </a:solidFill>
                <a:latin typeface="Public Sans" pitchFamily="34" charset="0"/>
                <a:ea typeface="Public Sans" pitchFamily="34" charset="-122"/>
                <a:cs typeface="Public Sans" pitchFamily="34" charset="-120"/>
              </a:rPr>
              <a:t>Current Projects</a:t>
            </a:r>
            <a:endParaRPr lang="en-US" sz="1200" dirty="0"/>
          </a:p>
        </p:txBody>
      </p:sp>
      <p:sp>
        <p:nvSpPr>
          <p:cNvPr id="15" name="Text 13"/>
          <p:cNvSpPr/>
          <p:nvPr/>
        </p:nvSpPr>
        <p:spPr>
          <a:xfrm>
            <a:off x="3509433" y="2763441"/>
            <a:ext cx="1502833" cy="533400"/>
          </a:xfrm>
          <a:prstGeom prst="roundRect">
            <a:avLst>
              <a:gd name="adj" fmla="val 9524"/>
            </a:avLst>
          </a:prstGeom>
          <a:solidFill>
            <a:srgbClr val="A8DAFF"/>
          </a:solidFill>
          <a:ln/>
        </p:spPr>
        <p:txBody>
          <a:bodyPr wrap="square" lIns="74021" tIns="61321" rIns="23221" bIns="35921" rtlCol="0" anchor="t">
            <a:normAutofit/>
          </a:bodyPr>
          <a:lstStyle/>
          <a:p>
            <a:pPr algn="l" indent="0" marL="0">
              <a:lnSpc>
                <a:spcPts val="1500"/>
              </a:lnSpc>
              <a:buNone/>
            </a:pPr>
            <a:r>
              <a:rPr lang="en-US" sz="1200" dirty="0">
                <a:solidFill>
                  <a:srgbClr val="1F2A33"/>
                </a:solidFill>
                <a:latin typeface="Public Sans" pitchFamily="34" charset="0"/>
                <a:ea typeface="Public Sans" pitchFamily="34" charset="-122"/>
                <a:cs typeface="Public Sans" pitchFamily="34" charset="-120"/>
              </a:rPr>
              <a:t>Completed Projects</a:t>
            </a:r>
            <a:endParaRPr lang="en-US" sz="1200" dirty="0"/>
          </a:p>
        </p:txBody>
      </p:sp>
      <p:sp>
        <p:nvSpPr>
          <p:cNvPr id="16" name="Text 14"/>
          <p:cNvSpPr/>
          <p:nvPr/>
        </p:nvSpPr>
        <p:spPr>
          <a:xfrm>
            <a:off x="5101167" y="2369741"/>
            <a:ext cx="1502833" cy="342900"/>
          </a:xfrm>
          <a:prstGeom prst="roundRect">
            <a:avLst>
              <a:gd name="adj" fmla="val 14815"/>
            </a:avLst>
          </a:prstGeom>
          <a:solidFill>
            <a:srgbClr val="A8DAFF"/>
          </a:solidFill>
          <a:ln/>
        </p:spPr>
        <p:txBody>
          <a:bodyPr wrap="square" lIns="74021" tIns="61321" rIns="23221" bIns="35921" rtlCol="0" anchor="t">
            <a:normAutofit/>
          </a:bodyPr>
          <a:lstStyle/>
          <a:p>
            <a:pPr algn="l" indent="0" marL="0">
              <a:lnSpc>
                <a:spcPts val="1500"/>
              </a:lnSpc>
              <a:buNone/>
            </a:pPr>
            <a:r>
              <a:rPr lang="en-US" sz="1200" dirty="0">
                <a:solidFill>
                  <a:srgbClr val="1F2A33"/>
                </a:solidFill>
                <a:latin typeface="Public Sans" pitchFamily="34" charset="0"/>
                <a:ea typeface="Public Sans" pitchFamily="34" charset="-122"/>
                <a:cs typeface="Public Sans" pitchFamily="34" charset="-120"/>
              </a:rPr>
              <a:t>Overview</a:t>
            </a:r>
            <a:endParaRPr lang="en-US" sz="1200" dirty="0"/>
          </a:p>
        </p:txBody>
      </p:sp>
      <p:sp>
        <p:nvSpPr>
          <p:cNvPr id="17" name="Text 15"/>
          <p:cNvSpPr/>
          <p:nvPr/>
        </p:nvSpPr>
        <p:spPr>
          <a:xfrm>
            <a:off x="5101167" y="2763441"/>
            <a:ext cx="1502833" cy="342900"/>
          </a:xfrm>
          <a:prstGeom prst="roundRect">
            <a:avLst>
              <a:gd name="adj" fmla="val 14815"/>
            </a:avLst>
          </a:prstGeom>
          <a:solidFill>
            <a:srgbClr val="A8DAFF"/>
          </a:solidFill>
          <a:ln/>
        </p:spPr>
        <p:txBody>
          <a:bodyPr wrap="square" lIns="74021" tIns="61321" rIns="23221" bIns="35921" rtlCol="0" anchor="t">
            <a:normAutofit/>
          </a:bodyPr>
          <a:lstStyle/>
          <a:p>
            <a:pPr algn="l" indent="0" marL="0">
              <a:lnSpc>
                <a:spcPts val="1500"/>
              </a:lnSpc>
              <a:buNone/>
            </a:pPr>
            <a:r>
              <a:rPr lang="en-US" sz="1200" dirty="0">
                <a:solidFill>
                  <a:srgbClr val="1F2A33"/>
                </a:solidFill>
                <a:latin typeface="Public Sans" pitchFamily="34" charset="0"/>
                <a:ea typeface="Public Sans" pitchFamily="34" charset="-122"/>
                <a:cs typeface="Public Sans" pitchFamily="34" charset="-120"/>
              </a:rPr>
              <a:t>Status</a:t>
            </a:r>
            <a:endParaRPr lang="en-US" sz="1200" dirty="0"/>
          </a:p>
        </p:txBody>
      </p:sp>
      <p:sp>
        <p:nvSpPr>
          <p:cNvPr id="18" name="Text 16"/>
          <p:cNvSpPr/>
          <p:nvPr/>
        </p:nvSpPr>
        <p:spPr>
          <a:xfrm>
            <a:off x="6692900" y="2369741"/>
            <a:ext cx="1502833" cy="342900"/>
          </a:xfrm>
          <a:prstGeom prst="roundRect">
            <a:avLst>
              <a:gd name="adj" fmla="val 14815"/>
            </a:avLst>
          </a:prstGeom>
          <a:solidFill>
            <a:srgbClr val="A8DAFF"/>
          </a:solidFill>
          <a:ln/>
        </p:spPr>
        <p:txBody>
          <a:bodyPr wrap="square" lIns="74021" tIns="61321" rIns="23221" bIns="35921" rtlCol="0" anchor="t">
            <a:normAutofit/>
          </a:bodyPr>
          <a:lstStyle/>
          <a:p>
            <a:pPr algn="l" indent="0" marL="0">
              <a:lnSpc>
                <a:spcPts val="1500"/>
              </a:lnSpc>
              <a:buNone/>
            </a:pPr>
            <a:r>
              <a:rPr lang="en-US" sz="1200" dirty="0">
                <a:solidFill>
                  <a:srgbClr val="1F2A33"/>
                </a:solidFill>
                <a:latin typeface="Public Sans" pitchFamily="34" charset="0"/>
                <a:ea typeface="Public Sans" pitchFamily="34" charset="-122"/>
                <a:cs typeface="Public Sans" pitchFamily="34" charset="-120"/>
              </a:rPr>
              <a:t>Articles</a:t>
            </a:r>
            <a:endParaRPr lang="en-US" sz="1200" dirty="0"/>
          </a:p>
        </p:txBody>
      </p:sp>
      <p:sp>
        <p:nvSpPr>
          <p:cNvPr id="19" name="Text 17"/>
          <p:cNvSpPr/>
          <p:nvPr/>
        </p:nvSpPr>
        <p:spPr>
          <a:xfrm>
            <a:off x="6692900" y="2763441"/>
            <a:ext cx="1502833" cy="342900"/>
          </a:xfrm>
          <a:prstGeom prst="roundRect">
            <a:avLst>
              <a:gd name="adj" fmla="val 14815"/>
            </a:avLst>
          </a:prstGeom>
          <a:solidFill>
            <a:srgbClr val="A8DAFF"/>
          </a:solidFill>
          <a:ln/>
        </p:spPr>
        <p:txBody>
          <a:bodyPr wrap="square" lIns="74021" tIns="61321" rIns="23221" bIns="35921" rtlCol="0" anchor="t">
            <a:normAutofit/>
          </a:bodyPr>
          <a:lstStyle/>
          <a:p>
            <a:pPr algn="l" indent="0" marL="0">
              <a:lnSpc>
                <a:spcPts val="1500"/>
              </a:lnSpc>
              <a:buNone/>
            </a:pPr>
            <a:r>
              <a:rPr lang="en-US" sz="1200" dirty="0">
                <a:solidFill>
                  <a:srgbClr val="1F2A33"/>
                </a:solidFill>
                <a:latin typeface="Public Sans" pitchFamily="34" charset="0"/>
                <a:ea typeface="Public Sans" pitchFamily="34" charset="-122"/>
                <a:cs typeface="Public Sans" pitchFamily="34" charset="-120"/>
              </a:rPr>
              <a:t>Posters</a:t>
            </a:r>
            <a:endParaRPr lang="en-US" sz="1200" dirty="0"/>
          </a:p>
        </p:txBody>
      </p:sp>
      <p:sp>
        <p:nvSpPr>
          <p:cNvPr id="20" name="Text 18"/>
          <p:cNvSpPr/>
          <p:nvPr/>
        </p:nvSpPr>
        <p:spPr>
          <a:xfrm>
            <a:off x="8284634" y="2369741"/>
            <a:ext cx="1502833" cy="342900"/>
          </a:xfrm>
          <a:prstGeom prst="roundRect">
            <a:avLst>
              <a:gd name="adj" fmla="val 14815"/>
            </a:avLst>
          </a:prstGeom>
          <a:solidFill>
            <a:srgbClr val="A8DAFF"/>
          </a:solidFill>
          <a:ln/>
        </p:spPr>
        <p:txBody>
          <a:bodyPr wrap="square" lIns="74021" tIns="61321" rIns="23221" bIns="35921" rtlCol="0" anchor="t">
            <a:normAutofit/>
          </a:bodyPr>
          <a:lstStyle/>
          <a:p>
            <a:pPr algn="l" indent="0" marL="0">
              <a:lnSpc>
                <a:spcPts val="1500"/>
              </a:lnSpc>
              <a:buNone/>
            </a:pPr>
            <a:r>
              <a:rPr lang="en-US" sz="1200" dirty="0">
                <a:solidFill>
                  <a:srgbClr val="1F2A33"/>
                </a:solidFill>
                <a:latin typeface="Public Sans" pitchFamily="34" charset="0"/>
                <a:ea typeface="Public Sans" pitchFamily="34" charset="-122"/>
                <a:cs typeface="Public Sans" pitchFamily="34" charset="-120"/>
              </a:rPr>
              <a:t>Blog</a:t>
            </a:r>
            <a:endParaRPr lang="en-US" sz="1200" dirty="0"/>
          </a:p>
        </p:txBody>
      </p:sp>
      <p:sp>
        <p:nvSpPr>
          <p:cNvPr id="21" name="Text 19"/>
          <p:cNvSpPr/>
          <p:nvPr/>
        </p:nvSpPr>
        <p:spPr>
          <a:xfrm>
            <a:off x="8284634" y="2763441"/>
            <a:ext cx="1502833" cy="342900"/>
          </a:xfrm>
          <a:prstGeom prst="roundRect">
            <a:avLst>
              <a:gd name="adj" fmla="val 14815"/>
            </a:avLst>
          </a:prstGeom>
          <a:solidFill>
            <a:srgbClr val="A8DAFF"/>
          </a:solidFill>
          <a:ln/>
        </p:spPr>
        <p:txBody>
          <a:bodyPr wrap="square" lIns="74021" tIns="61321" rIns="23221" bIns="35921" rtlCol="0" anchor="t">
            <a:normAutofit/>
          </a:bodyPr>
          <a:lstStyle/>
          <a:p>
            <a:pPr algn="l" indent="0" marL="0">
              <a:lnSpc>
                <a:spcPts val="1500"/>
              </a:lnSpc>
              <a:buNone/>
            </a:pPr>
            <a:r>
              <a:rPr lang="en-US" sz="1200" dirty="0">
                <a:solidFill>
                  <a:srgbClr val="1F2A33"/>
                </a:solidFill>
                <a:latin typeface="Public Sans" pitchFamily="34" charset="0"/>
                <a:ea typeface="Public Sans" pitchFamily="34" charset="-122"/>
                <a:cs typeface="Public Sans" pitchFamily="34" charset="-120"/>
              </a:rPr>
              <a:t>Updates</a:t>
            </a:r>
            <a:endParaRPr lang="en-US" sz="1200" dirty="0"/>
          </a:p>
        </p:txBody>
      </p:sp>
      <p:sp>
        <p:nvSpPr>
          <p:cNvPr id="22" name="Text 20"/>
          <p:cNvSpPr/>
          <p:nvPr/>
        </p:nvSpPr>
        <p:spPr>
          <a:xfrm>
            <a:off x="9876367" y="2369741"/>
            <a:ext cx="1502833" cy="342900"/>
          </a:xfrm>
          <a:prstGeom prst="roundRect">
            <a:avLst>
              <a:gd name="adj" fmla="val 14815"/>
            </a:avLst>
          </a:prstGeom>
          <a:solidFill>
            <a:srgbClr val="A8DAFF"/>
          </a:solidFill>
          <a:ln/>
        </p:spPr>
        <p:txBody>
          <a:bodyPr wrap="square" lIns="74021" tIns="61321" rIns="23221" bIns="35921" rtlCol="0" anchor="t">
            <a:normAutofit/>
          </a:bodyPr>
          <a:lstStyle/>
          <a:p>
            <a:pPr algn="l" indent="0" marL="0">
              <a:lnSpc>
                <a:spcPts val="1500"/>
              </a:lnSpc>
              <a:buNone/>
            </a:pPr>
            <a:r>
              <a:rPr lang="en-US" sz="1200" dirty="0">
                <a:solidFill>
                  <a:srgbClr val="1F2A33"/>
                </a:solidFill>
                <a:latin typeface="Public Sans" pitchFamily="34" charset="0"/>
                <a:ea typeface="Public Sans" pitchFamily="34" charset="-122"/>
                <a:cs typeface="Public Sans" pitchFamily="34" charset="-120"/>
              </a:rPr>
              <a:t>APSS</a:t>
            </a:r>
            <a:endParaRPr lang="en-US" sz="1200" dirty="0"/>
          </a:p>
        </p:txBody>
      </p:sp>
      <p:sp>
        <p:nvSpPr>
          <p:cNvPr id="23" name="Text 21"/>
          <p:cNvSpPr/>
          <p:nvPr/>
        </p:nvSpPr>
        <p:spPr>
          <a:xfrm>
            <a:off x="9876367" y="2763441"/>
            <a:ext cx="1502833" cy="342900"/>
          </a:xfrm>
          <a:prstGeom prst="roundRect">
            <a:avLst>
              <a:gd name="adj" fmla="val 14815"/>
            </a:avLst>
          </a:prstGeom>
          <a:solidFill>
            <a:srgbClr val="A8DAFF"/>
          </a:solidFill>
          <a:ln/>
        </p:spPr>
        <p:txBody>
          <a:bodyPr wrap="square" lIns="74021" tIns="61321" rIns="23221" bIns="35921" rtlCol="0" anchor="t">
            <a:normAutofit/>
          </a:bodyPr>
          <a:lstStyle/>
          <a:p>
            <a:pPr algn="l" indent="0" marL="0">
              <a:lnSpc>
                <a:spcPts val="1500"/>
              </a:lnSpc>
              <a:buNone/>
            </a:pPr>
            <a:r>
              <a:rPr lang="en-US" sz="1200" dirty="0">
                <a:solidFill>
                  <a:srgbClr val="1F2A33"/>
                </a:solidFill>
                <a:latin typeface="Public Sans" pitchFamily="34" charset="0"/>
                <a:ea typeface="Public Sans" pitchFamily="34" charset="-122"/>
                <a:cs typeface="Public Sans" pitchFamily="34" charset="-120"/>
              </a:rPr>
              <a:t>reportneedles</a:t>
            </a:r>
            <a:endParaRPr lang="en-US" sz="1200" dirty="0"/>
          </a:p>
        </p:txBody>
      </p:sp>
      <p:sp>
        <p:nvSpPr>
          <p:cNvPr id="24" name="Shape 22"/>
          <p:cNvSpPr/>
          <p:nvPr/>
        </p:nvSpPr>
        <p:spPr>
          <a:xfrm>
            <a:off x="812800" y="3392091"/>
            <a:ext cx="1016000" cy="0"/>
          </a:xfrm>
          <a:prstGeom prst="line">
            <a:avLst/>
          </a:prstGeom>
          <a:noFill/>
          <a:ln w="12700">
            <a:solidFill>
              <a:srgbClr val="9AA3AB"/>
            </a:solidFill>
            <a:prstDash val="dash"/>
          </a:ln>
        </p:spPr>
      </p:sp>
      <p:sp>
        <p:nvSpPr>
          <p:cNvPr id="25" name="Text 23"/>
          <p:cNvSpPr/>
          <p:nvPr/>
        </p:nvSpPr>
        <p:spPr>
          <a:xfrm>
            <a:off x="812800" y="3487341"/>
            <a:ext cx="10668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F2A33"/>
                </a:solidFill>
                <a:latin typeface="Public Sans" pitchFamily="34" charset="0"/>
                <a:ea typeface="Public Sans" pitchFamily="34" charset="-122"/>
                <a:cs typeface="Public Sans" pitchFamily="34" charset="-120"/>
              </a:rPr>
              <a:t>MVP 1</a:t>
            </a:r>
            <a:endParaRPr lang="en-US" sz="1200" dirty="0"/>
          </a:p>
        </p:txBody>
      </p:sp>
      <p:sp>
        <p:nvSpPr>
          <p:cNvPr id="26" name="Shape 24"/>
          <p:cNvSpPr/>
          <p:nvPr/>
        </p:nvSpPr>
        <p:spPr>
          <a:xfrm>
            <a:off x="1917700" y="3392091"/>
            <a:ext cx="1502833" cy="0"/>
          </a:xfrm>
          <a:prstGeom prst="line">
            <a:avLst/>
          </a:prstGeom>
          <a:noFill/>
          <a:ln w="12700">
            <a:solidFill>
              <a:srgbClr val="9AA3AB"/>
            </a:solidFill>
            <a:prstDash val="dash"/>
          </a:ln>
        </p:spPr>
      </p:sp>
      <p:sp>
        <p:nvSpPr>
          <p:cNvPr id="27" name="Text 25"/>
          <p:cNvSpPr/>
          <p:nvPr/>
        </p:nvSpPr>
        <p:spPr>
          <a:xfrm>
            <a:off x="1917700" y="3487341"/>
            <a:ext cx="1502833" cy="342900"/>
          </a:xfrm>
          <a:prstGeom prst="roundRect">
            <a:avLst>
              <a:gd name="adj" fmla="val 14815"/>
            </a:avLst>
          </a:prstGeom>
          <a:solidFill>
            <a:srgbClr val="FFE299"/>
          </a:solidFill>
          <a:ln/>
        </p:spPr>
        <p:txBody>
          <a:bodyPr wrap="square" lIns="74021" tIns="61321" rIns="23221" bIns="35921" rtlCol="0" anchor="t">
            <a:normAutofit/>
          </a:bodyPr>
          <a:lstStyle/>
          <a:p>
            <a:pPr algn="l" indent="0" marL="0">
              <a:lnSpc>
                <a:spcPts val="1500"/>
              </a:lnSpc>
              <a:buNone/>
            </a:pPr>
            <a:r>
              <a:rPr lang="en-US" sz="1200" dirty="0">
                <a:solidFill>
                  <a:srgbClr val="1F2A33"/>
                </a:solidFill>
                <a:latin typeface="Public Sans" pitchFamily="34" charset="0"/>
                <a:ea typeface="Public Sans" pitchFamily="34" charset="-122"/>
                <a:cs typeface="Public Sans" pitchFamily="34" charset="-120"/>
              </a:rPr>
              <a:t>Home</a:t>
            </a:r>
            <a:endParaRPr lang="en-US" sz="1200" dirty="0"/>
          </a:p>
        </p:txBody>
      </p:sp>
      <p:sp>
        <p:nvSpPr>
          <p:cNvPr id="28" name="Shape 26"/>
          <p:cNvSpPr/>
          <p:nvPr/>
        </p:nvSpPr>
        <p:spPr>
          <a:xfrm>
            <a:off x="3509433" y="3392091"/>
            <a:ext cx="1502833" cy="0"/>
          </a:xfrm>
          <a:prstGeom prst="line">
            <a:avLst/>
          </a:prstGeom>
          <a:noFill/>
          <a:ln w="12700">
            <a:solidFill>
              <a:srgbClr val="9AA3AB"/>
            </a:solidFill>
            <a:prstDash val="dash"/>
          </a:ln>
        </p:spPr>
      </p:sp>
      <p:sp>
        <p:nvSpPr>
          <p:cNvPr id="29" name="Text 27"/>
          <p:cNvSpPr/>
          <p:nvPr/>
        </p:nvSpPr>
        <p:spPr>
          <a:xfrm>
            <a:off x="3509433" y="3487341"/>
            <a:ext cx="1502833" cy="342900"/>
          </a:xfrm>
          <a:prstGeom prst="roundRect">
            <a:avLst>
              <a:gd name="adj" fmla="val 14815"/>
            </a:avLst>
          </a:prstGeom>
          <a:solidFill>
            <a:srgbClr val="FFE299"/>
          </a:solidFill>
          <a:ln/>
        </p:spPr>
        <p:txBody>
          <a:bodyPr wrap="square" lIns="74021" tIns="61321" rIns="23221" bIns="35921" rtlCol="0" anchor="t">
            <a:normAutofit/>
          </a:bodyPr>
          <a:lstStyle/>
          <a:p>
            <a:pPr algn="l" indent="0" marL="0">
              <a:lnSpc>
                <a:spcPts val="1500"/>
              </a:lnSpc>
              <a:buNone/>
            </a:pPr>
            <a:r>
              <a:rPr lang="en-US" sz="1200" dirty="0">
                <a:solidFill>
                  <a:srgbClr val="1F2A33"/>
                </a:solidFill>
                <a:latin typeface="Public Sans" pitchFamily="34" charset="0"/>
                <a:ea typeface="Public Sans" pitchFamily="34" charset="-122"/>
                <a:cs typeface="Public Sans" pitchFamily="34" charset="-120"/>
              </a:rPr>
              <a:t>Current</a:t>
            </a:r>
            <a:endParaRPr lang="en-US" sz="1200" dirty="0"/>
          </a:p>
        </p:txBody>
      </p:sp>
      <p:sp>
        <p:nvSpPr>
          <p:cNvPr id="30" name="Text 28"/>
          <p:cNvSpPr/>
          <p:nvPr/>
        </p:nvSpPr>
        <p:spPr>
          <a:xfrm>
            <a:off x="3509433" y="3881041"/>
            <a:ext cx="1502833" cy="342900"/>
          </a:xfrm>
          <a:prstGeom prst="roundRect">
            <a:avLst>
              <a:gd name="adj" fmla="val 14815"/>
            </a:avLst>
          </a:prstGeom>
          <a:solidFill>
            <a:srgbClr val="FFE299"/>
          </a:solidFill>
          <a:ln/>
        </p:spPr>
        <p:txBody>
          <a:bodyPr wrap="square" lIns="74021" tIns="61321" rIns="23221" bIns="35921" rtlCol="0" anchor="t">
            <a:normAutofit/>
          </a:bodyPr>
          <a:lstStyle/>
          <a:p>
            <a:pPr algn="l" indent="0" marL="0">
              <a:lnSpc>
                <a:spcPts val="1500"/>
              </a:lnSpc>
              <a:buNone/>
            </a:pPr>
            <a:r>
              <a:rPr lang="en-US" sz="1200" dirty="0">
                <a:solidFill>
                  <a:srgbClr val="1F2A33"/>
                </a:solidFill>
                <a:latin typeface="Public Sans" pitchFamily="34" charset="0"/>
                <a:ea typeface="Public Sans" pitchFamily="34" charset="-122"/>
                <a:cs typeface="Public Sans" pitchFamily="34" charset="-120"/>
              </a:rPr>
              <a:t>Completed</a:t>
            </a:r>
            <a:endParaRPr lang="en-US" sz="1200" dirty="0"/>
          </a:p>
        </p:txBody>
      </p:sp>
      <p:sp>
        <p:nvSpPr>
          <p:cNvPr id="31" name="Shape 29"/>
          <p:cNvSpPr/>
          <p:nvPr/>
        </p:nvSpPr>
        <p:spPr>
          <a:xfrm>
            <a:off x="5101167" y="3392091"/>
            <a:ext cx="1502833" cy="0"/>
          </a:xfrm>
          <a:prstGeom prst="line">
            <a:avLst/>
          </a:prstGeom>
          <a:noFill/>
          <a:ln w="12700">
            <a:solidFill>
              <a:srgbClr val="9AA3AB"/>
            </a:solidFill>
            <a:prstDash val="dash"/>
          </a:ln>
        </p:spPr>
      </p:sp>
      <p:sp>
        <p:nvSpPr>
          <p:cNvPr id="32" name="Text 30"/>
          <p:cNvSpPr/>
          <p:nvPr/>
        </p:nvSpPr>
        <p:spPr>
          <a:xfrm>
            <a:off x="5101167" y="3487341"/>
            <a:ext cx="1502833" cy="342900"/>
          </a:xfrm>
          <a:prstGeom prst="roundRect">
            <a:avLst>
              <a:gd name="adj" fmla="val 14815"/>
            </a:avLst>
          </a:prstGeom>
          <a:solidFill>
            <a:srgbClr val="FFE299"/>
          </a:solidFill>
          <a:ln/>
        </p:spPr>
        <p:txBody>
          <a:bodyPr wrap="square" lIns="74021" tIns="61321" rIns="23221" bIns="35921" rtlCol="0" anchor="t">
            <a:normAutofit/>
          </a:bodyPr>
          <a:lstStyle/>
          <a:p>
            <a:pPr algn="l" indent="0" marL="0">
              <a:lnSpc>
                <a:spcPts val="1500"/>
              </a:lnSpc>
              <a:buNone/>
            </a:pPr>
            <a:r>
              <a:rPr lang="en-US" sz="1200" dirty="0">
                <a:solidFill>
                  <a:srgbClr val="1F2A33"/>
                </a:solidFill>
                <a:latin typeface="Public Sans" pitchFamily="34" charset="0"/>
                <a:ea typeface="Public Sans" pitchFamily="34" charset="-122"/>
                <a:cs typeface="Public Sans" pitchFamily="34" charset="-120"/>
              </a:rPr>
              <a:t>Project Details</a:t>
            </a:r>
            <a:endParaRPr lang="en-US" sz="1200" dirty="0"/>
          </a:p>
        </p:txBody>
      </p:sp>
      <p:sp>
        <p:nvSpPr>
          <p:cNvPr id="33" name="Shape 31"/>
          <p:cNvSpPr/>
          <p:nvPr/>
        </p:nvSpPr>
        <p:spPr>
          <a:xfrm>
            <a:off x="6692900" y="3392091"/>
            <a:ext cx="1502833" cy="0"/>
          </a:xfrm>
          <a:prstGeom prst="line">
            <a:avLst/>
          </a:prstGeom>
          <a:noFill/>
          <a:ln w="12700">
            <a:solidFill>
              <a:srgbClr val="9AA3AB"/>
            </a:solidFill>
            <a:prstDash val="dash"/>
          </a:ln>
        </p:spPr>
      </p:sp>
      <p:sp>
        <p:nvSpPr>
          <p:cNvPr id="34" name="Text 32"/>
          <p:cNvSpPr/>
          <p:nvPr/>
        </p:nvSpPr>
        <p:spPr>
          <a:xfrm>
            <a:off x="6692900" y="3487341"/>
            <a:ext cx="1502833" cy="342900"/>
          </a:xfrm>
          <a:prstGeom prst="roundRect">
            <a:avLst>
              <a:gd name="adj" fmla="val 14815"/>
            </a:avLst>
          </a:prstGeom>
          <a:solidFill>
            <a:srgbClr val="FFE299"/>
          </a:solidFill>
          <a:ln/>
        </p:spPr>
        <p:txBody>
          <a:bodyPr wrap="square" lIns="74021" tIns="61321" rIns="23221" bIns="35921" rtlCol="0" anchor="t">
            <a:normAutofit/>
          </a:bodyPr>
          <a:lstStyle/>
          <a:p>
            <a:pPr algn="l" indent="0" marL="0">
              <a:lnSpc>
                <a:spcPts val="1500"/>
              </a:lnSpc>
              <a:buNone/>
            </a:pPr>
            <a:r>
              <a:rPr lang="en-US" sz="1200" dirty="0">
                <a:solidFill>
                  <a:srgbClr val="1F2A33"/>
                </a:solidFill>
                <a:latin typeface="Public Sans" pitchFamily="34" charset="0"/>
                <a:ea typeface="Public Sans" pitchFamily="34" charset="-122"/>
                <a:cs typeface="Public Sans" pitchFamily="34" charset="-120"/>
              </a:rPr>
              <a:t>Articles</a:t>
            </a:r>
            <a:endParaRPr lang="en-US" sz="1200" dirty="0"/>
          </a:p>
        </p:txBody>
      </p:sp>
      <p:sp>
        <p:nvSpPr>
          <p:cNvPr id="35" name="Text 33"/>
          <p:cNvSpPr/>
          <p:nvPr/>
        </p:nvSpPr>
        <p:spPr>
          <a:xfrm>
            <a:off x="6692900" y="3881041"/>
            <a:ext cx="1502833" cy="342900"/>
          </a:xfrm>
          <a:prstGeom prst="roundRect">
            <a:avLst>
              <a:gd name="adj" fmla="val 14815"/>
            </a:avLst>
          </a:prstGeom>
          <a:solidFill>
            <a:srgbClr val="FFE299"/>
          </a:solidFill>
          <a:ln/>
        </p:spPr>
        <p:txBody>
          <a:bodyPr wrap="square" lIns="74021" tIns="61321" rIns="23221" bIns="35921" rtlCol="0" anchor="t">
            <a:normAutofit/>
          </a:bodyPr>
          <a:lstStyle/>
          <a:p>
            <a:pPr algn="l" indent="0" marL="0">
              <a:lnSpc>
                <a:spcPts val="1500"/>
              </a:lnSpc>
              <a:buNone/>
            </a:pPr>
            <a:r>
              <a:rPr lang="en-US" sz="1200" dirty="0">
                <a:solidFill>
                  <a:srgbClr val="1F2A33"/>
                </a:solidFill>
                <a:latin typeface="Public Sans" pitchFamily="34" charset="0"/>
                <a:ea typeface="Public Sans" pitchFamily="34" charset="-122"/>
                <a:cs typeface="Public Sans" pitchFamily="34" charset="-120"/>
              </a:rPr>
              <a:t>Posters</a:t>
            </a:r>
            <a:endParaRPr lang="en-US" sz="1200" dirty="0"/>
          </a:p>
        </p:txBody>
      </p:sp>
      <p:sp>
        <p:nvSpPr>
          <p:cNvPr id="36" name="Shape 34"/>
          <p:cNvSpPr/>
          <p:nvPr/>
        </p:nvSpPr>
        <p:spPr>
          <a:xfrm>
            <a:off x="8284634" y="3392091"/>
            <a:ext cx="1502833" cy="0"/>
          </a:xfrm>
          <a:prstGeom prst="line">
            <a:avLst/>
          </a:prstGeom>
          <a:noFill/>
          <a:ln w="12700">
            <a:solidFill>
              <a:srgbClr val="9AA3AB"/>
            </a:solidFill>
            <a:prstDash val="dash"/>
          </a:ln>
        </p:spPr>
      </p:sp>
      <p:sp>
        <p:nvSpPr>
          <p:cNvPr id="37" name="Text 35"/>
          <p:cNvSpPr/>
          <p:nvPr/>
        </p:nvSpPr>
        <p:spPr>
          <a:xfrm>
            <a:off x="8284634" y="3487341"/>
            <a:ext cx="1502833" cy="342900"/>
          </a:xfrm>
          <a:prstGeom prst="roundRect">
            <a:avLst>
              <a:gd name="adj" fmla="val 14815"/>
            </a:avLst>
          </a:prstGeom>
          <a:solidFill>
            <a:srgbClr val="FFE299"/>
          </a:solidFill>
          <a:ln/>
        </p:spPr>
        <p:txBody>
          <a:bodyPr wrap="square" lIns="74021" tIns="61321" rIns="23221" bIns="35921" rtlCol="0" anchor="t">
            <a:normAutofit/>
          </a:bodyPr>
          <a:lstStyle/>
          <a:p>
            <a:pPr algn="l" indent="0" marL="0">
              <a:lnSpc>
                <a:spcPts val="1500"/>
              </a:lnSpc>
              <a:buNone/>
            </a:pPr>
            <a:r>
              <a:rPr lang="en-US" sz="1200" dirty="0">
                <a:solidFill>
                  <a:srgbClr val="1F2A33"/>
                </a:solidFill>
                <a:latin typeface="Public Sans" pitchFamily="34" charset="0"/>
                <a:ea typeface="Public Sans" pitchFamily="34" charset="-122"/>
                <a:cs typeface="Public Sans" pitchFamily="34" charset="-120"/>
              </a:rPr>
              <a:t>Blog</a:t>
            </a:r>
            <a:endParaRPr lang="en-US" sz="1200" dirty="0"/>
          </a:p>
        </p:txBody>
      </p:sp>
      <p:sp>
        <p:nvSpPr>
          <p:cNvPr id="38" name="Shape 36"/>
          <p:cNvSpPr/>
          <p:nvPr/>
        </p:nvSpPr>
        <p:spPr>
          <a:xfrm>
            <a:off x="9876367" y="3392091"/>
            <a:ext cx="1502833" cy="0"/>
          </a:xfrm>
          <a:prstGeom prst="line">
            <a:avLst/>
          </a:prstGeom>
          <a:noFill/>
          <a:ln w="12700">
            <a:solidFill>
              <a:srgbClr val="9AA3AB"/>
            </a:solidFill>
            <a:prstDash val="dash"/>
          </a:ln>
        </p:spPr>
      </p:sp>
      <p:sp>
        <p:nvSpPr>
          <p:cNvPr id="39" name="Text 37"/>
          <p:cNvSpPr/>
          <p:nvPr/>
        </p:nvSpPr>
        <p:spPr>
          <a:xfrm>
            <a:off x="9876367" y="3487341"/>
            <a:ext cx="1502833" cy="342900"/>
          </a:xfrm>
          <a:prstGeom prst="roundRect">
            <a:avLst>
              <a:gd name="adj" fmla="val 14815"/>
            </a:avLst>
          </a:prstGeom>
          <a:solidFill>
            <a:srgbClr val="FFE299"/>
          </a:solidFill>
          <a:ln/>
        </p:spPr>
        <p:txBody>
          <a:bodyPr wrap="square" lIns="74021" tIns="61321" rIns="23221" bIns="35921" rtlCol="0" anchor="t">
            <a:normAutofit/>
          </a:bodyPr>
          <a:lstStyle/>
          <a:p>
            <a:pPr algn="l" indent="0" marL="0">
              <a:lnSpc>
                <a:spcPts val="1500"/>
              </a:lnSpc>
              <a:buNone/>
            </a:pPr>
            <a:r>
              <a:rPr lang="en-US" sz="1200" dirty="0">
                <a:solidFill>
                  <a:srgbClr val="1F2A33"/>
                </a:solidFill>
                <a:latin typeface="Public Sans" pitchFamily="34" charset="0"/>
                <a:ea typeface="Public Sans" pitchFamily="34" charset="-122"/>
                <a:cs typeface="Public Sans" pitchFamily="34" charset="-120"/>
              </a:rPr>
              <a:t>APSS link</a:t>
            </a:r>
            <a:endParaRPr lang="en-US" sz="1200" dirty="0"/>
          </a:p>
        </p:txBody>
      </p:sp>
      <p:sp>
        <p:nvSpPr>
          <p:cNvPr id="40" name="Text 38"/>
          <p:cNvSpPr/>
          <p:nvPr/>
        </p:nvSpPr>
        <p:spPr>
          <a:xfrm>
            <a:off x="9876367" y="3881041"/>
            <a:ext cx="1502833" cy="342900"/>
          </a:xfrm>
          <a:prstGeom prst="roundRect">
            <a:avLst>
              <a:gd name="adj" fmla="val 14815"/>
            </a:avLst>
          </a:prstGeom>
          <a:solidFill>
            <a:srgbClr val="FFE299"/>
          </a:solidFill>
          <a:ln/>
        </p:spPr>
        <p:txBody>
          <a:bodyPr wrap="square" lIns="74021" tIns="61321" rIns="23221" bIns="35921" rtlCol="0" anchor="t">
            <a:normAutofit/>
          </a:bodyPr>
          <a:lstStyle/>
          <a:p>
            <a:pPr algn="l" indent="0" marL="0">
              <a:lnSpc>
                <a:spcPts val="1500"/>
              </a:lnSpc>
              <a:buNone/>
            </a:pPr>
            <a:r>
              <a:rPr lang="en-US" sz="1200" dirty="0">
                <a:solidFill>
                  <a:srgbClr val="1F2A33"/>
                </a:solidFill>
                <a:latin typeface="Public Sans" pitchFamily="34" charset="0"/>
                <a:ea typeface="Public Sans" pitchFamily="34" charset="-122"/>
                <a:cs typeface="Public Sans" pitchFamily="34" charset="-120"/>
              </a:rPr>
              <a:t>reportneedles</a:t>
            </a:r>
            <a:endParaRPr lang="en-US" sz="1200" dirty="0"/>
          </a:p>
        </p:txBody>
      </p:sp>
      <p:sp>
        <p:nvSpPr>
          <p:cNvPr id="41" name="Shape 39"/>
          <p:cNvSpPr/>
          <p:nvPr/>
        </p:nvSpPr>
        <p:spPr>
          <a:xfrm>
            <a:off x="812800" y="4319191"/>
            <a:ext cx="1016000" cy="0"/>
          </a:xfrm>
          <a:prstGeom prst="line">
            <a:avLst/>
          </a:prstGeom>
          <a:noFill/>
          <a:ln w="12700">
            <a:solidFill>
              <a:srgbClr val="9AA3AB"/>
            </a:solidFill>
            <a:prstDash val="dash"/>
          </a:ln>
        </p:spPr>
      </p:sp>
      <p:sp>
        <p:nvSpPr>
          <p:cNvPr id="42" name="Text 40"/>
          <p:cNvSpPr/>
          <p:nvPr/>
        </p:nvSpPr>
        <p:spPr>
          <a:xfrm>
            <a:off x="812800" y="4414441"/>
            <a:ext cx="10668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F2A33"/>
                </a:solidFill>
                <a:latin typeface="Public Sans" pitchFamily="34" charset="0"/>
                <a:ea typeface="Public Sans" pitchFamily="34" charset="-122"/>
                <a:cs typeface="Public Sans" pitchFamily="34" charset="-120"/>
              </a:rPr>
              <a:t>MVP 2</a:t>
            </a:r>
            <a:endParaRPr lang="en-US" sz="1200" dirty="0"/>
          </a:p>
        </p:txBody>
      </p:sp>
      <p:sp>
        <p:nvSpPr>
          <p:cNvPr id="43" name="Shape 41"/>
          <p:cNvSpPr/>
          <p:nvPr/>
        </p:nvSpPr>
        <p:spPr>
          <a:xfrm>
            <a:off x="1917700" y="4319191"/>
            <a:ext cx="1502833" cy="0"/>
          </a:xfrm>
          <a:prstGeom prst="line">
            <a:avLst/>
          </a:prstGeom>
          <a:noFill/>
          <a:ln w="12700">
            <a:solidFill>
              <a:srgbClr val="9AA3AB"/>
            </a:solidFill>
            <a:prstDash val="dash"/>
          </a:ln>
        </p:spPr>
      </p:sp>
      <p:sp>
        <p:nvSpPr>
          <p:cNvPr id="44" name="Shape 42"/>
          <p:cNvSpPr/>
          <p:nvPr/>
        </p:nvSpPr>
        <p:spPr>
          <a:xfrm>
            <a:off x="3509433" y="4319191"/>
            <a:ext cx="1502833" cy="0"/>
          </a:xfrm>
          <a:prstGeom prst="line">
            <a:avLst/>
          </a:prstGeom>
          <a:noFill/>
          <a:ln w="12700">
            <a:solidFill>
              <a:srgbClr val="9AA3AB"/>
            </a:solidFill>
            <a:prstDash val="dash"/>
          </a:ln>
        </p:spPr>
      </p:sp>
      <p:sp>
        <p:nvSpPr>
          <p:cNvPr id="45" name="Text 43"/>
          <p:cNvSpPr/>
          <p:nvPr/>
        </p:nvSpPr>
        <p:spPr>
          <a:xfrm>
            <a:off x="3509433" y="4414441"/>
            <a:ext cx="1502833" cy="342900"/>
          </a:xfrm>
          <a:prstGeom prst="roundRect">
            <a:avLst>
              <a:gd name="adj" fmla="val 14815"/>
            </a:avLst>
          </a:prstGeom>
          <a:solidFill>
            <a:srgbClr val="FFE299"/>
          </a:solidFill>
          <a:ln/>
        </p:spPr>
        <p:txBody>
          <a:bodyPr wrap="square" lIns="74021" tIns="61321" rIns="23221" bIns="35921" rtlCol="0" anchor="t">
            <a:normAutofit/>
          </a:bodyPr>
          <a:lstStyle/>
          <a:p>
            <a:pPr algn="l" indent="0" marL="0">
              <a:lnSpc>
                <a:spcPts val="1500"/>
              </a:lnSpc>
              <a:buNone/>
            </a:pPr>
            <a:r>
              <a:rPr lang="en-US" sz="1200" dirty="0">
                <a:solidFill>
                  <a:srgbClr val="1F2A33"/>
                </a:solidFill>
                <a:latin typeface="Public Sans" pitchFamily="34" charset="0"/>
                <a:ea typeface="Public Sans" pitchFamily="34" charset="-122"/>
                <a:cs typeface="Public Sans" pitchFamily="34" charset="-120"/>
              </a:rPr>
              <a:t>Filters</a:t>
            </a:r>
            <a:endParaRPr lang="en-US" sz="1200" dirty="0"/>
          </a:p>
        </p:txBody>
      </p:sp>
      <p:sp>
        <p:nvSpPr>
          <p:cNvPr id="46" name="Shape 44"/>
          <p:cNvSpPr/>
          <p:nvPr/>
        </p:nvSpPr>
        <p:spPr>
          <a:xfrm>
            <a:off x="5101167" y="4319191"/>
            <a:ext cx="1502833" cy="0"/>
          </a:xfrm>
          <a:prstGeom prst="line">
            <a:avLst/>
          </a:prstGeom>
          <a:noFill/>
          <a:ln w="12700">
            <a:solidFill>
              <a:srgbClr val="9AA3AB"/>
            </a:solidFill>
            <a:prstDash val="dash"/>
          </a:ln>
        </p:spPr>
      </p:sp>
      <p:sp>
        <p:nvSpPr>
          <p:cNvPr id="47" name="Text 45"/>
          <p:cNvSpPr/>
          <p:nvPr/>
        </p:nvSpPr>
        <p:spPr>
          <a:xfrm>
            <a:off x="5101167" y="4414441"/>
            <a:ext cx="1502833" cy="342900"/>
          </a:xfrm>
          <a:prstGeom prst="roundRect">
            <a:avLst>
              <a:gd name="adj" fmla="val 14815"/>
            </a:avLst>
          </a:prstGeom>
          <a:solidFill>
            <a:srgbClr val="FFE299"/>
          </a:solidFill>
          <a:ln/>
        </p:spPr>
        <p:txBody>
          <a:bodyPr wrap="square" lIns="74021" tIns="61321" rIns="23221" bIns="35921" rtlCol="0" anchor="t">
            <a:normAutofit/>
          </a:bodyPr>
          <a:lstStyle/>
          <a:p>
            <a:pPr algn="l" indent="0" marL="0">
              <a:lnSpc>
                <a:spcPts val="1500"/>
              </a:lnSpc>
              <a:buNone/>
            </a:pPr>
            <a:r>
              <a:rPr lang="en-US" sz="1200" dirty="0">
                <a:solidFill>
                  <a:srgbClr val="1F2A33"/>
                </a:solidFill>
                <a:latin typeface="Public Sans" pitchFamily="34" charset="0"/>
                <a:ea typeface="Public Sans" pitchFamily="34" charset="-122"/>
                <a:cs typeface="Public Sans" pitchFamily="34" charset="-120"/>
              </a:rPr>
              <a:t>Related Projects</a:t>
            </a:r>
            <a:endParaRPr lang="en-US" sz="1200" dirty="0"/>
          </a:p>
        </p:txBody>
      </p:sp>
      <p:sp>
        <p:nvSpPr>
          <p:cNvPr id="48" name="Shape 46"/>
          <p:cNvSpPr/>
          <p:nvPr/>
        </p:nvSpPr>
        <p:spPr>
          <a:xfrm>
            <a:off x="6692900" y="4319191"/>
            <a:ext cx="1502833" cy="0"/>
          </a:xfrm>
          <a:prstGeom prst="line">
            <a:avLst/>
          </a:prstGeom>
          <a:noFill/>
          <a:ln w="12700">
            <a:solidFill>
              <a:srgbClr val="9AA3AB"/>
            </a:solidFill>
            <a:prstDash val="dash"/>
          </a:ln>
        </p:spPr>
      </p:sp>
      <p:sp>
        <p:nvSpPr>
          <p:cNvPr id="49" name="Text 47"/>
          <p:cNvSpPr/>
          <p:nvPr/>
        </p:nvSpPr>
        <p:spPr>
          <a:xfrm>
            <a:off x="6692900" y="4414441"/>
            <a:ext cx="1502833" cy="533400"/>
          </a:xfrm>
          <a:prstGeom prst="roundRect">
            <a:avLst>
              <a:gd name="adj" fmla="val 9524"/>
            </a:avLst>
          </a:prstGeom>
          <a:solidFill>
            <a:srgbClr val="FFE299"/>
          </a:solidFill>
          <a:ln/>
        </p:spPr>
        <p:txBody>
          <a:bodyPr wrap="square" lIns="74021" tIns="61321" rIns="23221" bIns="35921" rtlCol="0" anchor="t">
            <a:normAutofit/>
          </a:bodyPr>
          <a:lstStyle/>
          <a:p>
            <a:pPr algn="l" indent="0" marL="0">
              <a:lnSpc>
                <a:spcPts val="1500"/>
              </a:lnSpc>
              <a:buNone/>
            </a:pPr>
            <a:r>
              <a:rPr lang="en-US" sz="1200" dirty="0">
                <a:solidFill>
                  <a:srgbClr val="1F2A33"/>
                </a:solidFill>
                <a:latin typeface="Public Sans" pitchFamily="34" charset="0"/>
                <a:ea typeface="Public Sans" pitchFamily="34" charset="-122"/>
                <a:cs typeface="Public Sans" pitchFamily="34" charset="-120"/>
              </a:rPr>
              <a:t>Related Resources</a:t>
            </a:r>
            <a:endParaRPr lang="en-US" sz="1200" dirty="0"/>
          </a:p>
        </p:txBody>
      </p:sp>
      <p:sp>
        <p:nvSpPr>
          <p:cNvPr id="50" name="Shape 48"/>
          <p:cNvSpPr/>
          <p:nvPr/>
        </p:nvSpPr>
        <p:spPr>
          <a:xfrm>
            <a:off x="8284634" y="4319191"/>
            <a:ext cx="1502833" cy="0"/>
          </a:xfrm>
          <a:prstGeom prst="line">
            <a:avLst/>
          </a:prstGeom>
          <a:noFill/>
          <a:ln w="12700">
            <a:solidFill>
              <a:srgbClr val="9AA3AB"/>
            </a:solidFill>
            <a:prstDash val="dash"/>
          </a:ln>
        </p:spPr>
      </p:sp>
      <p:sp>
        <p:nvSpPr>
          <p:cNvPr id="51" name="Shape 49"/>
          <p:cNvSpPr/>
          <p:nvPr/>
        </p:nvSpPr>
        <p:spPr>
          <a:xfrm>
            <a:off x="9876367" y="4319191"/>
            <a:ext cx="1502833" cy="0"/>
          </a:xfrm>
          <a:prstGeom prst="line">
            <a:avLst/>
          </a:prstGeom>
          <a:noFill/>
          <a:ln w="12700">
            <a:solidFill>
              <a:srgbClr val="9AA3AB"/>
            </a:solidFill>
            <a:prstDash val="dash"/>
          </a:ln>
        </p:spPr>
      </p:sp>
      <p:sp>
        <p:nvSpPr>
          <p:cNvPr id="52" name="Shape 50"/>
          <p:cNvSpPr/>
          <p:nvPr/>
        </p:nvSpPr>
        <p:spPr>
          <a:xfrm>
            <a:off x="812800" y="5100241"/>
            <a:ext cx="10566400" cy="401307"/>
          </a:xfrm>
          <a:prstGeom prst="roundRect">
            <a:avLst>
              <a:gd name="adj" fmla="val 25317"/>
            </a:avLst>
          </a:prstGeom>
          <a:solidFill>
            <a:srgbClr val="DCEFEA"/>
          </a:solidFill>
          <a:ln/>
        </p:spPr>
      </p:sp>
      <p:pic>
        <p:nvPicPr>
          <p:cNvPr id="53" name="Image 0" descr="Chat">    </p:cNvPr>
          <p:cNvPicPr>
            <a:picLocks noChangeAspect="1"/>
          </p:cNvPicPr>
          <p:nvPr/>
        </p:nvPicPr>
        <p:blipFill>
          <a:blip r:embed="rId1"/>
          <a:srcRect l="0" r="0" t="0" b="0"/>
          <a:stretch/>
        </p:blipFill>
        <p:spPr>
          <a:xfrm>
            <a:off x="990600" y="5186561"/>
            <a:ext cx="228600" cy="228600"/>
          </a:xfrm>
          <a:prstGeom prst="rect">
            <a:avLst/>
          </a:prstGeom>
        </p:spPr>
      </p:pic>
      <p:sp>
        <p:nvSpPr>
          <p:cNvPr id="54" name="Text 51"/>
          <p:cNvSpPr/>
          <p:nvPr/>
        </p:nvSpPr>
        <p:spPr>
          <a:xfrm>
            <a:off x="1346200" y="5176441"/>
            <a:ext cx="6704092" cy="27430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1181D"/>
                </a:solidFill>
                <a:latin typeface="Public Sans" pitchFamily="34" charset="0"/>
                <a:ea typeface="Public Sans" pitchFamily="34" charset="-122"/>
                <a:cs typeface="Public Sans" pitchFamily="34" charset="-120"/>
              </a:rPr>
              <a:t>Is MVP 1 the right first release? What must be live by December 2?</a:t>
            </a:r>
            <a:endParaRPr lang="en-US" sz="1400" dirty="0"/>
          </a:p>
        </p:txBody>
      </p:sp>
      <p:sp>
        <p:nvSpPr>
          <p:cNvPr id="55" name="Text 52"/>
          <p:cNvSpPr/>
          <p:nvPr/>
        </p:nvSpPr>
        <p:spPr>
          <a:xfrm>
            <a:off x="812800" y="6238280"/>
            <a:ext cx="390183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872"/>
                </a:solidFill>
                <a:latin typeface="Public Sans" pitchFamily="34" charset="0"/>
                <a:ea typeface="Public Sans" pitchFamily="34" charset="-122"/>
                <a:cs typeface="Public Sans" pitchFamily="34" charset="-120"/>
              </a:rPr>
              <a:t>APSS Research Website · Customer check-in 1</a:t>
            </a:r>
            <a:endParaRPr lang="en-US" sz="1200" dirty="0"/>
          </a:p>
        </p:txBody>
      </p:sp>
      <p:sp>
        <p:nvSpPr>
          <p:cNvPr id="56" name="Text 53"/>
          <p:cNvSpPr/>
          <p:nvPr/>
        </p:nvSpPr>
        <p:spPr>
          <a:xfrm>
            <a:off x="11173090" y="6238280"/>
            <a:ext cx="20611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872"/>
                </a:solidFill>
                <a:latin typeface="Public Sans" pitchFamily="34" charset="0"/>
                <a:ea typeface="Public Sans" pitchFamily="34" charset="-122"/>
                <a:cs typeface="Public Sans"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E2F33"/>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2C14E"/>
                </a:solidFill>
                <a:latin typeface="Public Sans" pitchFamily="34" charset="0"/>
                <a:ea typeface="Public Sans" pitchFamily="34" charset="-122"/>
                <a:cs typeface="Public Sans" pitchFamily="34" charset="-120"/>
              </a:rPr>
              <a:t>BEFORE WE CLOSE</a:t>
            </a:r>
            <a:endParaRPr lang="en-US" sz="1200" dirty="0"/>
          </a:p>
        </p:txBody>
      </p:sp>
      <p:sp>
        <p:nvSpPr>
          <p:cNvPr id="3" name="Text 1"/>
          <p:cNvSpPr/>
          <p:nvPr>
            <p:ph type="title"/>
          </p:nvPr>
        </p:nvSpPr>
        <p:spPr>
          <a:xfrm>
            <a:off x="812800" y="11277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F7F5F0"/>
                </a:solidFill>
                <a:latin typeface="Source Serif 4" pitchFamily="18" charset="0"/>
                <a:ea typeface="Source Serif 4" pitchFamily="18" charset="-122"/>
                <a:cs typeface="Source Serif 4" pitchFamily="18" charset="-120"/>
              </a:rPr>
              <a:t>Questions for APSS</a:t>
            </a:r>
            <a:endParaRPr lang="en-US" sz="3200" dirty="0"/>
          </a:p>
        </p:txBody>
      </p:sp>
      <p:sp>
        <p:nvSpPr>
          <p:cNvPr id="4" name="Text 2"/>
          <p:cNvSpPr/>
          <p:nvPr/>
        </p:nvSpPr>
        <p:spPr>
          <a:xfrm>
            <a:off x="782571" y="1899841"/>
            <a:ext cx="10906001" cy="1625468"/>
          </a:xfrm>
          <a:prstGeom prst="rect">
            <a:avLst/>
          </a:prstGeom>
          <a:noFill/>
          <a:ln/>
        </p:spPr>
        <p:txBody>
          <a:bodyPr wrap="square" lIns="0" tIns="0" rIns="0" bIns="0" rtlCol="0" anchor="t">
            <a:normAutofit/>
          </a:bodyPr>
          <a:lstStyle/>
          <a:p>
            <a:pPr algn="l" marL="284229" indent="-284229">
              <a:lnSpc>
                <a:spcPts val="2520"/>
              </a:lnSpc>
              <a:buSzPct val="100000"/>
              <a:buFontTx/>
              <a:buAutoNum type="arabicPeriod" startAt="1"/>
            </a:pPr>
            <a:r>
              <a:rPr lang="en-US" sz="1800" dirty="0">
                <a:solidFill>
                  <a:srgbClr val="F7F5F0"/>
                </a:solidFill>
                <a:latin typeface="Public Sans" pitchFamily="34" charset="0"/>
                <a:ea typeface="Public Sans" pitchFamily="34" charset="-122"/>
                <a:cs typeface="Public Sans" pitchFamily="34" charset="-120"/>
              </a:rPr>
              <a:t>Who visits the research site most: researchers, funders, community members or media?</a:t>
            </a:r>
            <a:endParaRPr lang="en-US" sz="1800" dirty="0"/>
          </a:p>
          <a:p>
            <a:pPr algn="l" marL="284229" indent="-284229">
              <a:lnSpc>
                <a:spcPts val="2520"/>
              </a:lnSpc>
              <a:buSzPct val="100000"/>
              <a:buFontTx/>
              <a:buAutoNum type="arabicPeriod" startAt="1"/>
            </a:pPr>
            <a:r>
              <a:rPr lang="en-US" sz="1800" dirty="0">
                <a:solidFill>
                  <a:srgbClr val="F7F5F0"/>
                </a:solidFill>
                <a:latin typeface="Public Sans" pitchFamily="34" charset="0"/>
                <a:ea typeface="Public Sans" pitchFamily="34" charset="-122"/>
                <a:cs typeface="Public Sans" pitchFamily="34" charset="-120"/>
              </a:rPr>
              <a:t>Who will update the WordPress site after December 2?</a:t>
            </a:r>
            <a:endParaRPr lang="en-US" sz="1800" dirty="0"/>
          </a:p>
          <a:p>
            <a:pPr algn="l" marL="284229" indent="-284229">
              <a:lnSpc>
                <a:spcPts val="2520"/>
              </a:lnSpc>
              <a:buSzPct val="100000"/>
              <a:buFontTx/>
              <a:buAutoNum type="arabicPeriod" startAt="1"/>
            </a:pPr>
            <a:r>
              <a:rPr lang="en-US" sz="1800" dirty="0">
                <a:solidFill>
                  <a:srgbClr val="F7F5F0"/>
                </a:solidFill>
                <a:latin typeface="Public Sans" pitchFamily="34" charset="0"/>
                <a:ea typeface="Public Sans" pitchFamily="34" charset="-122"/>
                <a:cs typeface="Public Sans" pitchFamily="34" charset="-120"/>
              </a:rPr>
              <a:t>Are the articles and posters ready in digital form?</a:t>
            </a:r>
            <a:endParaRPr lang="en-US" sz="1800" dirty="0"/>
          </a:p>
          <a:p>
            <a:pPr algn="l" marL="284229" indent="-284229">
              <a:lnSpc>
                <a:spcPts val="2520"/>
              </a:lnSpc>
              <a:buSzPct val="100000"/>
              <a:buFontTx/>
              <a:buAutoNum type="arabicPeriod" startAt="1"/>
            </a:pPr>
            <a:r>
              <a:rPr lang="en-US" sz="1800" dirty="0">
                <a:solidFill>
                  <a:srgbClr val="F7F5F0"/>
                </a:solidFill>
                <a:latin typeface="Public Sans" pitchFamily="34" charset="0"/>
                <a:ea typeface="Public Sans" pitchFamily="34" charset="-122"/>
                <a:cs typeface="Public Sans" pitchFamily="34" charset="-120"/>
              </a:rPr>
              <a:t>Are there branding or accessibility guidelines we should follow?</a:t>
            </a:r>
            <a:endParaRPr lang="en-US"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F6E6E"/>
                </a:solidFill>
                <a:latin typeface="Public Sans" pitchFamily="34" charset="0"/>
                <a:ea typeface="Public Sans" pitchFamily="34" charset="-122"/>
                <a:cs typeface="Public Sans" pitchFamily="34" charset="-120"/>
              </a:rPr>
              <a:t>NEXT STEPS</a:t>
            </a:r>
            <a:endParaRPr lang="en-US" sz="1200" dirty="0"/>
          </a:p>
        </p:txBody>
      </p:sp>
      <p:sp>
        <p:nvSpPr>
          <p:cNvPr id="3" name="Text 1"/>
          <p:cNvSpPr/>
          <p:nvPr>
            <p:ph type="title"/>
          </p:nvPr>
        </p:nvSpPr>
        <p:spPr>
          <a:xfrm>
            <a:off x="812800" y="11277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F2A33"/>
                </a:solidFill>
                <a:latin typeface="Source Serif 4" pitchFamily="18" charset="0"/>
                <a:ea typeface="Source Serif 4" pitchFamily="18" charset="-122"/>
                <a:cs typeface="Source Serif 4" pitchFamily="18" charset="-120"/>
              </a:rPr>
              <a:t>Where your feedback goes next</a:t>
            </a:r>
            <a:endParaRPr lang="en-US" sz="3200" dirty="0"/>
          </a:p>
        </p:txBody>
      </p:sp>
      <p:sp>
        <p:nvSpPr>
          <p:cNvPr id="4" name="Shape 2"/>
          <p:cNvSpPr/>
          <p:nvPr/>
        </p:nvSpPr>
        <p:spPr>
          <a:xfrm>
            <a:off x="812800" y="1918891"/>
            <a:ext cx="2489200" cy="0"/>
          </a:xfrm>
          <a:prstGeom prst="line">
            <a:avLst/>
          </a:prstGeom>
          <a:noFill/>
          <a:ln w="38100">
            <a:solidFill>
              <a:srgbClr val="0F6E6E"/>
            </a:solidFill>
            <a:prstDash val="solid"/>
          </a:ln>
        </p:spPr>
      </p:sp>
      <p:sp>
        <p:nvSpPr>
          <p:cNvPr id="5" name="Text 3"/>
          <p:cNvSpPr/>
          <p:nvPr/>
        </p:nvSpPr>
        <p:spPr>
          <a:xfrm>
            <a:off x="812800" y="2115741"/>
            <a:ext cx="2563876" cy="472414"/>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F2A33"/>
                </a:solidFill>
                <a:latin typeface="Source Serif 4" pitchFamily="18" charset="0"/>
                <a:ea typeface="Source Serif 4" pitchFamily="18" charset="-122"/>
                <a:cs typeface="Source Serif 4" pitchFamily="18" charset="-120"/>
              </a:rPr>
              <a:t>Oct 9</a:t>
            </a:r>
            <a:endParaRPr lang="en-US" sz="3200" dirty="0"/>
          </a:p>
        </p:txBody>
      </p:sp>
      <p:sp>
        <p:nvSpPr>
          <p:cNvPr id="6" name="Text 4"/>
          <p:cNvSpPr/>
          <p:nvPr/>
        </p:nvSpPr>
        <p:spPr>
          <a:xfrm>
            <a:off x="812800" y="2638958"/>
            <a:ext cx="2563876"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0"/>
                </a:solidFill>
                <a:latin typeface="Public Sans" pitchFamily="34" charset="0"/>
                <a:ea typeface="Public Sans" pitchFamily="34" charset="-122"/>
                <a:cs typeface="Public Sans" pitchFamily="34" charset="-120"/>
              </a:rPr>
              <a:t>Activity 1 files on GitHub</a:t>
            </a:r>
            <a:endParaRPr lang="en-US" sz="1400" dirty="0"/>
          </a:p>
        </p:txBody>
      </p:sp>
      <p:sp>
        <p:nvSpPr>
          <p:cNvPr id="7" name="Shape 5"/>
          <p:cNvSpPr/>
          <p:nvPr/>
        </p:nvSpPr>
        <p:spPr>
          <a:xfrm>
            <a:off x="3505200" y="1918891"/>
            <a:ext cx="2489200" cy="0"/>
          </a:xfrm>
          <a:prstGeom prst="line">
            <a:avLst/>
          </a:prstGeom>
          <a:noFill/>
          <a:ln w="38100">
            <a:solidFill>
              <a:srgbClr val="0F6E6E"/>
            </a:solidFill>
            <a:prstDash val="solid"/>
          </a:ln>
        </p:spPr>
      </p:sp>
      <p:sp>
        <p:nvSpPr>
          <p:cNvPr id="8" name="Text 6"/>
          <p:cNvSpPr/>
          <p:nvPr/>
        </p:nvSpPr>
        <p:spPr>
          <a:xfrm>
            <a:off x="3505200" y="2115741"/>
            <a:ext cx="2563876" cy="472414"/>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F2A33"/>
                </a:solidFill>
                <a:latin typeface="Source Serif 4" pitchFamily="18" charset="0"/>
                <a:ea typeface="Source Serif 4" pitchFamily="18" charset="-122"/>
                <a:cs typeface="Source Serif 4" pitchFamily="18" charset="-120"/>
              </a:rPr>
              <a:t>Oct 21</a:t>
            </a:r>
            <a:endParaRPr lang="en-US" sz="3200" dirty="0"/>
          </a:p>
        </p:txBody>
      </p:sp>
      <p:sp>
        <p:nvSpPr>
          <p:cNvPr id="9" name="Text 7"/>
          <p:cNvSpPr/>
          <p:nvPr/>
        </p:nvSpPr>
        <p:spPr>
          <a:xfrm>
            <a:off x="3505200" y="2638958"/>
            <a:ext cx="2563876"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0"/>
                </a:solidFill>
                <a:latin typeface="Public Sans" pitchFamily="34" charset="0"/>
                <a:ea typeface="Public Sans" pitchFamily="34" charset="-122"/>
                <a:cs typeface="Public Sans" pitchFamily="34" charset="-120"/>
              </a:rPr>
              <a:t>High-fidelity designs</a:t>
            </a:r>
            <a:endParaRPr lang="en-US" sz="1400" dirty="0"/>
          </a:p>
        </p:txBody>
      </p:sp>
      <p:sp>
        <p:nvSpPr>
          <p:cNvPr id="10" name="Shape 8"/>
          <p:cNvSpPr/>
          <p:nvPr/>
        </p:nvSpPr>
        <p:spPr>
          <a:xfrm>
            <a:off x="6197600" y="1918891"/>
            <a:ext cx="2489200" cy="0"/>
          </a:xfrm>
          <a:prstGeom prst="line">
            <a:avLst/>
          </a:prstGeom>
          <a:noFill/>
          <a:ln w="38100">
            <a:solidFill>
              <a:srgbClr val="0F6E6E"/>
            </a:solidFill>
            <a:prstDash val="solid"/>
          </a:ln>
        </p:spPr>
      </p:sp>
      <p:sp>
        <p:nvSpPr>
          <p:cNvPr id="11" name="Text 9"/>
          <p:cNvSpPr/>
          <p:nvPr/>
        </p:nvSpPr>
        <p:spPr>
          <a:xfrm>
            <a:off x="6197600" y="2115741"/>
            <a:ext cx="2563876" cy="472414"/>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F2A33"/>
                </a:solidFill>
                <a:latin typeface="Source Serif 4" pitchFamily="18" charset="0"/>
                <a:ea typeface="Source Serif 4" pitchFamily="18" charset="-122"/>
                <a:cs typeface="Source Serif 4" pitchFamily="18" charset="-120"/>
              </a:rPr>
              <a:t>Nov 4</a:t>
            </a:r>
            <a:endParaRPr lang="en-US" sz="3200" dirty="0"/>
          </a:p>
        </p:txBody>
      </p:sp>
      <p:sp>
        <p:nvSpPr>
          <p:cNvPr id="12" name="Text 10"/>
          <p:cNvSpPr/>
          <p:nvPr/>
        </p:nvSpPr>
        <p:spPr>
          <a:xfrm>
            <a:off x="6197600" y="2638958"/>
            <a:ext cx="2563876"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0"/>
                </a:solidFill>
                <a:latin typeface="Public Sans" pitchFamily="34" charset="0"/>
                <a:ea typeface="Public Sans" pitchFamily="34" charset="-122"/>
                <a:cs typeface="Public Sans" pitchFamily="34" charset="-120"/>
              </a:rPr>
              <a:t>WordPress work in progress</a:t>
            </a:r>
            <a:endParaRPr lang="en-US" sz="1400" dirty="0"/>
          </a:p>
        </p:txBody>
      </p:sp>
      <p:sp>
        <p:nvSpPr>
          <p:cNvPr id="13" name="Shape 11"/>
          <p:cNvSpPr/>
          <p:nvPr/>
        </p:nvSpPr>
        <p:spPr>
          <a:xfrm>
            <a:off x="8890000" y="1918891"/>
            <a:ext cx="2489200" cy="0"/>
          </a:xfrm>
          <a:prstGeom prst="line">
            <a:avLst/>
          </a:prstGeom>
          <a:noFill/>
          <a:ln w="38100">
            <a:solidFill>
              <a:srgbClr val="0F6E6E"/>
            </a:solidFill>
            <a:prstDash val="solid"/>
          </a:ln>
        </p:spPr>
      </p:sp>
      <p:sp>
        <p:nvSpPr>
          <p:cNvPr id="14" name="Text 12"/>
          <p:cNvSpPr/>
          <p:nvPr/>
        </p:nvSpPr>
        <p:spPr>
          <a:xfrm>
            <a:off x="8890000" y="2115741"/>
            <a:ext cx="2563876" cy="472414"/>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F2A33"/>
                </a:solidFill>
                <a:latin typeface="Source Serif 4" pitchFamily="18" charset="0"/>
                <a:ea typeface="Source Serif 4" pitchFamily="18" charset="-122"/>
                <a:cs typeface="Source Serif 4" pitchFamily="18" charset="-120"/>
              </a:rPr>
              <a:t>Dec 2</a:t>
            </a:r>
            <a:endParaRPr lang="en-US" sz="3200" dirty="0"/>
          </a:p>
        </p:txBody>
      </p:sp>
      <p:sp>
        <p:nvSpPr>
          <p:cNvPr id="15" name="Text 13"/>
          <p:cNvSpPr/>
          <p:nvPr/>
        </p:nvSpPr>
        <p:spPr>
          <a:xfrm>
            <a:off x="8890000" y="2638958"/>
            <a:ext cx="2563876"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0"/>
                </a:solidFill>
                <a:latin typeface="Public Sans" pitchFamily="34" charset="0"/>
                <a:ea typeface="Public Sans" pitchFamily="34" charset="-122"/>
                <a:cs typeface="Public Sans" pitchFamily="34" charset="-120"/>
              </a:rPr>
              <a:t>Final delivery to APSS</a:t>
            </a:r>
            <a:endParaRPr lang="en-US" sz="1400" dirty="0"/>
          </a:p>
        </p:txBody>
      </p:sp>
      <p:sp>
        <p:nvSpPr>
          <p:cNvPr id="16" name="Text 14"/>
          <p:cNvSpPr/>
          <p:nvPr/>
        </p:nvSpPr>
        <p:spPr>
          <a:xfrm>
            <a:off x="812800" y="5533430"/>
            <a:ext cx="10883392" cy="333970"/>
          </a:xfrm>
          <a:prstGeom prst="rect">
            <a:avLst/>
          </a:prstGeom>
          <a:noFill/>
          <a:ln/>
        </p:spPr>
        <p:txBody>
          <a:bodyPr wrap="square" lIns="0" tIns="0" rIns="0" bIns="0" rtlCol="0" anchor="t">
            <a:normAutofit/>
          </a:bodyPr>
          <a:lstStyle/>
          <a:p>
            <a:pPr algn="l" indent="0" marL="0">
              <a:lnSpc>
                <a:spcPts val="2430"/>
              </a:lnSpc>
              <a:buNone/>
            </a:pPr>
            <a:r>
              <a:rPr lang="en-US" sz="1800" dirty="0">
                <a:solidFill>
                  <a:srgbClr val="1F2A33"/>
                </a:solidFill>
                <a:latin typeface="Public Sans" pitchFamily="34" charset="0"/>
                <a:ea typeface="Public Sans" pitchFamily="34" charset="-122"/>
                <a:cs typeface="Public Sans" pitchFamily="34" charset="-120"/>
              </a:rPr>
              <a:t>Thank you. We’ll fold today’s feedback into our high-fidelity designs.</a:t>
            </a:r>
            <a:endParaRPr lang="en-US" sz="1800" dirty="0"/>
          </a:p>
        </p:txBody>
      </p:sp>
      <p:sp>
        <p:nvSpPr>
          <p:cNvPr id="17" name="Text 15"/>
          <p:cNvSpPr/>
          <p:nvPr/>
        </p:nvSpPr>
        <p:spPr>
          <a:xfrm>
            <a:off x="812800" y="6238280"/>
            <a:ext cx="390183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872"/>
                </a:solidFill>
                <a:latin typeface="Public Sans" pitchFamily="34" charset="0"/>
                <a:ea typeface="Public Sans" pitchFamily="34" charset="-122"/>
                <a:cs typeface="Public Sans" pitchFamily="34" charset="-120"/>
              </a:rPr>
              <a:t>APSS Research Website · Customer check-in 1</a:t>
            </a:r>
            <a:endParaRPr lang="en-US" sz="1200" dirty="0"/>
          </a:p>
        </p:txBody>
      </p:sp>
      <p:sp>
        <p:nvSpPr>
          <p:cNvPr id="18" name="Text 16"/>
          <p:cNvSpPr/>
          <p:nvPr/>
        </p:nvSpPr>
        <p:spPr>
          <a:xfrm>
            <a:off x="11175537" y="6238280"/>
            <a:ext cx="203663"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872"/>
                </a:solidFill>
                <a:latin typeface="Public Sans" pitchFamily="34" charset="0"/>
                <a:ea typeface="Public Sans" pitchFamily="34" charset="-122"/>
                <a:cs typeface="Public Sans" pitchFamily="34" charset="-120"/>
              </a:rPr>
              <a:t>12</a:t>
            </a:r>
            <a:endParaRPr lang="en-US" sz="1200" dirty="0"/>
          </a:p>
        </p:txBody>
      </p:sp>
    </p:spTree>
  </p:cSld>
  <p:clrMapOvr>
    <a:masterClrMapping/>
  </p:clrMapOvr>
</p:sld>
</file>

<file path=ppt/theme/theme1.xml><?xml version="1.0" encoding="utf-8"?>
<a:theme xmlns:a="http://schemas.openxmlformats.org/drawingml/2006/main" name="APSS Research Website – Customer Check-in">
  <a:themeElements>
    <a:clrScheme name="APSS Research Website – Customer Check-in">
      <a:dk1>
        <a:srgbClr val="1F2A33"/>
      </a:dk1>
      <a:lt1>
        <a:srgbClr val="F7F5F0"/>
      </a:lt1>
      <a:dk2>
        <a:srgbClr val="555D62"/>
      </a:dk2>
      <a:lt2>
        <a:srgbClr val="E1E1DD"/>
      </a:lt2>
      <a:accent1>
        <a:srgbClr val="0F6E6E"/>
      </a:accent1>
      <a:accent2>
        <a:srgbClr val="A8DAFF"/>
      </a:accent2>
      <a:accent3>
        <a:srgbClr val="FFE299"/>
      </a:accent3>
      <a:accent4>
        <a:srgbClr val="FFD3A8"/>
      </a:accent4>
      <a:accent5>
        <a:srgbClr val="F2C14E"/>
      </a:accent5>
      <a:accent6>
        <a:srgbClr val="5F6872"/>
      </a:accent6>
      <a:hlink>
        <a:srgbClr val="0563C1"/>
      </a:hlink>
      <a:folHlink>
        <a:srgbClr val="954F72"/>
      </a:folHlink>
    </a:clrScheme>
    <a:fontScheme name="APSS Research Website – Customer Check-in">
      <a:majorFont>
        <a:latin typeface="Source Serif 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Public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APSS Research Website – Customer Check-in</dc:title>
  <dc:subject/>
  <dc:creator/>
  <cp:lastModifiedBy/>
  <cp:revision>1</cp:revision>
  <dcterms:created xsi:type="dcterms:W3CDTF">2026-10-07T02:42:50Z</dcterms:created>
  <dcterms:modified xsi:type="dcterms:W3CDTF">2026-10-07T02:42:50Z</dcterms:modified>
</cp:coreProperties>
</file>